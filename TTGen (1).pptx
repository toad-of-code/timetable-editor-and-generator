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2" r:id="rId4"/>
    <p:sldId id="260" r:id="rId5"/>
    <p:sldId id="271" r:id="rId6"/>
    <p:sldId id="272" r:id="rId7"/>
    <p:sldId id="273" r:id="rId8"/>
    <p:sldId id="274" r:id="rId9"/>
    <p:sldId id="267" r:id="rId10"/>
    <p:sldId id="275" r:id="rId11"/>
    <p:sldId id="276" r:id="rId12"/>
    <p:sldId id="277" r:id="rId13"/>
    <p:sldId id="278" r:id="rId14"/>
    <p:sldId id="265" r:id="rId15"/>
    <p:sldId id="287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8" r:id="rId25"/>
    <p:sldId id="264" r:id="rId26"/>
    <p:sldId id="269" r:id="rId27"/>
    <p:sldId id="290" r:id="rId28"/>
    <p:sldId id="291" r:id="rId29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9" d="100"/>
          <a:sy n="119" d="100"/>
        </p:scale>
        <p:origin x="418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BD582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rgbClr val="3E3E3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BD582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rgbClr val="3E3E3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BD582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413249"/>
            <a:ext cx="9144000" cy="730250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895149" y="1303383"/>
            <a:ext cx="7475220" cy="0"/>
          </a:xfrm>
          <a:custGeom>
            <a:avLst/>
            <a:gdLst/>
            <a:ahLst/>
            <a:cxnLst/>
            <a:rect l="l" t="t" r="r" b="b"/>
            <a:pathLst>
              <a:path w="7475220">
                <a:moveTo>
                  <a:pt x="0" y="0"/>
                </a:moveTo>
                <a:lnTo>
                  <a:pt x="7475219" y="0"/>
                </a:lnTo>
              </a:path>
            </a:pathLst>
          </a:custGeom>
          <a:ln w="9524">
            <a:solidFill>
              <a:srgbClr val="7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903825"/>
            <a:ext cx="9144002" cy="34713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BD582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4800600"/>
            <a:ext cx="9144000" cy="342900"/>
          </a:xfrm>
          <a:custGeom>
            <a:avLst/>
            <a:gdLst/>
            <a:ahLst/>
            <a:cxnLst/>
            <a:rect l="l" t="t" r="r" b="b"/>
            <a:pathLst>
              <a:path w="9144000" h="342900">
                <a:moveTo>
                  <a:pt x="9143999" y="342899"/>
                </a:moveTo>
                <a:lnTo>
                  <a:pt x="0" y="3428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342899"/>
                </a:lnTo>
                <a:close/>
              </a:path>
            </a:pathLst>
          </a:custGeom>
          <a:solidFill>
            <a:srgbClr val="BD58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4750737"/>
            <a:ext cx="9144000" cy="49530"/>
          </a:xfrm>
          <a:custGeom>
            <a:avLst/>
            <a:gdLst/>
            <a:ahLst/>
            <a:cxnLst/>
            <a:rect l="l" t="t" r="r" b="b"/>
            <a:pathLst>
              <a:path w="9144000" h="49529">
                <a:moveTo>
                  <a:pt x="9144000" y="49498"/>
                </a:moveTo>
                <a:lnTo>
                  <a:pt x="0" y="49498"/>
                </a:lnTo>
                <a:lnTo>
                  <a:pt x="0" y="0"/>
                </a:lnTo>
                <a:lnTo>
                  <a:pt x="9144000" y="0"/>
                </a:lnTo>
                <a:lnTo>
                  <a:pt x="9144000" y="49498"/>
                </a:lnTo>
                <a:close/>
              </a:path>
            </a:pathLst>
          </a:custGeom>
          <a:solidFill>
            <a:srgbClr val="E4831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95149" y="1303383"/>
            <a:ext cx="7475220" cy="0"/>
          </a:xfrm>
          <a:custGeom>
            <a:avLst/>
            <a:gdLst/>
            <a:ahLst/>
            <a:cxnLst/>
            <a:rect l="l" t="t" r="r" b="b"/>
            <a:pathLst>
              <a:path w="7475220">
                <a:moveTo>
                  <a:pt x="0" y="0"/>
                </a:moveTo>
                <a:lnTo>
                  <a:pt x="7475219" y="0"/>
                </a:lnTo>
              </a:path>
            </a:pathLst>
          </a:custGeom>
          <a:ln w="9524">
            <a:solidFill>
              <a:srgbClr val="7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76935" y="711276"/>
            <a:ext cx="7234555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BD582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72150" y="1760880"/>
            <a:ext cx="7520305" cy="2540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rgbClr val="3E3E3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" y="4750737"/>
            <a:ext cx="9144000" cy="393065"/>
            <a:chOff x="11" y="4750737"/>
            <a:chExt cx="9144000" cy="393065"/>
          </a:xfrm>
        </p:grpSpPr>
        <p:sp>
          <p:nvSpPr>
            <p:cNvPr id="3" name="object 3"/>
            <p:cNvSpPr/>
            <p:nvPr/>
          </p:nvSpPr>
          <p:spPr>
            <a:xfrm>
              <a:off x="2381" y="4800600"/>
              <a:ext cx="9142095" cy="342900"/>
            </a:xfrm>
            <a:custGeom>
              <a:avLst/>
              <a:gdLst/>
              <a:ahLst/>
              <a:cxnLst/>
              <a:rect l="l" t="t" r="r" b="b"/>
              <a:pathLst>
                <a:path w="9142095" h="342900">
                  <a:moveTo>
                    <a:pt x="9141618" y="342899"/>
                  </a:moveTo>
                  <a:lnTo>
                    <a:pt x="0" y="342899"/>
                  </a:lnTo>
                  <a:lnTo>
                    <a:pt x="0" y="0"/>
                  </a:lnTo>
                  <a:lnTo>
                    <a:pt x="9141618" y="0"/>
                  </a:lnTo>
                  <a:lnTo>
                    <a:pt x="9141618" y="342899"/>
                  </a:lnTo>
                  <a:close/>
                </a:path>
              </a:pathLst>
            </a:custGeom>
            <a:solidFill>
              <a:srgbClr val="BD58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1" y="4750737"/>
              <a:ext cx="9142095" cy="48260"/>
            </a:xfrm>
            <a:custGeom>
              <a:avLst/>
              <a:gdLst/>
              <a:ahLst/>
              <a:cxnLst/>
              <a:rect l="l" t="t" r="r" b="b"/>
              <a:pathLst>
                <a:path w="9142095" h="48260">
                  <a:moveTo>
                    <a:pt x="9141618" y="48005"/>
                  </a:moveTo>
                  <a:lnTo>
                    <a:pt x="0" y="48005"/>
                  </a:lnTo>
                  <a:lnTo>
                    <a:pt x="0" y="0"/>
                  </a:lnTo>
                  <a:lnTo>
                    <a:pt x="9141618" y="0"/>
                  </a:lnTo>
                  <a:lnTo>
                    <a:pt x="9141618" y="48005"/>
                  </a:lnTo>
                  <a:close/>
                </a:path>
              </a:pathLst>
            </a:custGeom>
            <a:solidFill>
              <a:srgbClr val="E483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905743" y="3257550"/>
            <a:ext cx="7406640" cy="0"/>
          </a:xfrm>
          <a:custGeom>
            <a:avLst/>
            <a:gdLst/>
            <a:ahLst/>
            <a:cxnLst/>
            <a:rect l="l" t="t" r="r" b="b"/>
            <a:pathLst>
              <a:path w="7406640">
                <a:moveTo>
                  <a:pt x="0" y="0"/>
                </a:moveTo>
                <a:lnTo>
                  <a:pt x="7406639" y="0"/>
                </a:lnTo>
              </a:path>
            </a:pathLst>
          </a:custGeom>
          <a:ln w="9524">
            <a:solidFill>
              <a:srgbClr val="7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464476" y="381722"/>
            <a:ext cx="6043930" cy="1717039"/>
          </a:xfrm>
          <a:prstGeom prst="rect">
            <a:avLst/>
          </a:prstGeom>
        </p:spPr>
        <p:txBody>
          <a:bodyPr vert="horz" wrap="square" lIns="0" tIns="153035" rIns="0" bIns="0" rtlCol="0">
            <a:spAutoFit/>
          </a:bodyPr>
          <a:lstStyle/>
          <a:p>
            <a:pPr marL="12700" marR="5080">
              <a:lnSpc>
                <a:spcPts val="6120"/>
              </a:lnSpc>
              <a:spcBef>
                <a:spcPts val="1205"/>
              </a:spcBef>
            </a:pPr>
            <a:r>
              <a:rPr lang="en-IN" sz="6000" dirty="0">
                <a:solidFill>
                  <a:srgbClr val="262626"/>
                </a:solidFill>
              </a:rPr>
              <a:t>Automated</a:t>
            </a:r>
            <a:r>
              <a:rPr lang="en-IN" sz="6000" spc="-325" dirty="0">
                <a:solidFill>
                  <a:srgbClr val="262626"/>
                </a:solidFill>
              </a:rPr>
              <a:t> </a:t>
            </a:r>
            <a:r>
              <a:rPr sz="6000" spc="-10" dirty="0">
                <a:solidFill>
                  <a:srgbClr val="262626"/>
                </a:solidFill>
              </a:rPr>
              <a:t>IIITA </a:t>
            </a:r>
            <a:r>
              <a:rPr sz="6000" dirty="0">
                <a:solidFill>
                  <a:srgbClr val="262626"/>
                </a:solidFill>
              </a:rPr>
              <a:t>Timetabling</a:t>
            </a:r>
            <a:r>
              <a:rPr sz="6000" spc="-185" dirty="0">
                <a:solidFill>
                  <a:srgbClr val="262626"/>
                </a:solidFill>
              </a:rPr>
              <a:t> </a:t>
            </a:r>
            <a:r>
              <a:rPr sz="6000" spc="-55" dirty="0">
                <a:solidFill>
                  <a:srgbClr val="262626"/>
                </a:solidFill>
              </a:rPr>
              <a:t>System</a:t>
            </a:r>
            <a:endParaRPr sz="6000" dirty="0"/>
          </a:p>
        </p:txBody>
      </p:sp>
      <p:sp>
        <p:nvSpPr>
          <p:cNvPr id="7" name="object 7"/>
          <p:cNvSpPr txBox="1"/>
          <p:nvPr/>
        </p:nvSpPr>
        <p:spPr>
          <a:xfrm>
            <a:off x="959925" y="3301635"/>
            <a:ext cx="2976245" cy="1287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637052"/>
                </a:solidFill>
                <a:latin typeface="Calibri"/>
                <a:cs typeface="Calibri"/>
              </a:rPr>
              <a:t>Group</a:t>
            </a:r>
            <a:r>
              <a:rPr sz="1800" spc="-10" dirty="0">
                <a:solidFill>
                  <a:srgbClr val="637052"/>
                </a:solidFill>
                <a:latin typeface="Calibri"/>
                <a:cs typeface="Calibri"/>
              </a:rPr>
              <a:t>:-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ts val="2050"/>
              </a:lnSpc>
              <a:spcBef>
                <a:spcPts val="1725"/>
              </a:spcBef>
            </a:pPr>
            <a:r>
              <a:rPr sz="1800" dirty="0">
                <a:solidFill>
                  <a:srgbClr val="637052"/>
                </a:solidFill>
                <a:latin typeface="Calibri"/>
                <a:cs typeface="Calibri"/>
              </a:rPr>
              <a:t>Rahul</a:t>
            </a:r>
            <a:r>
              <a:rPr sz="1800" spc="-50" dirty="0">
                <a:solidFill>
                  <a:srgbClr val="63705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637052"/>
                </a:solidFill>
                <a:latin typeface="Calibri"/>
                <a:cs typeface="Calibri"/>
              </a:rPr>
              <a:t>Roy</a:t>
            </a:r>
            <a:r>
              <a:rPr sz="1800" spc="-45" dirty="0">
                <a:solidFill>
                  <a:srgbClr val="63705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637052"/>
                </a:solidFill>
                <a:latin typeface="Calibri"/>
                <a:cs typeface="Calibri"/>
              </a:rPr>
              <a:t>-</a:t>
            </a:r>
            <a:r>
              <a:rPr sz="1800" spc="-45" dirty="0">
                <a:solidFill>
                  <a:srgbClr val="637052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637052"/>
                </a:solidFill>
                <a:latin typeface="Calibri"/>
                <a:cs typeface="Calibri"/>
              </a:rPr>
              <a:t>IIT2023196</a:t>
            </a:r>
            <a:endParaRPr sz="1800">
              <a:latin typeface="Calibri"/>
              <a:cs typeface="Calibri"/>
            </a:endParaRPr>
          </a:p>
          <a:p>
            <a:pPr marL="12700" marR="5080">
              <a:lnSpc>
                <a:spcPts val="1939"/>
              </a:lnSpc>
              <a:spcBef>
                <a:spcPts val="140"/>
              </a:spcBef>
            </a:pPr>
            <a:r>
              <a:rPr sz="1800" dirty="0">
                <a:solidFill>
                  <a:srgbClr val="637052"/>
                </a:solidFill>
                <a:latin typeface="Calibri"/>
                <a:cs typeface="Calibri"/>
              </a:rPr>
              <a:t>Lakvath</a:t>
            </a:r>
            <a:r>
              <a:rPr sz="1800" spc="-65" dirty="0">
                <a:solidFill>
                  <a:srgbClr val="63705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637052"/>
                </a:solidFill>
                <a:latin typeface="Calibri"/>
                <a:cs typeface="Calibri"/>
              </a:rPr>
              <a:t>Peer</a:t>
            </a:r>
            <a:r>
              <a:rPr sz="1800" spc="-60" dirty="0">
                <a:solidFill>
                  <a:srgbClr val="63705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637052"/>
                </a:solidFill>
                <a:latin typeface="Calibri"/>
                <a:cs typeface="Calibri"/>
              </a:rPr>
              <a:t>Singh</a:t>
            </a:r>
            <a:r>
              <a:rPr sz="1800" spc="-65" dirty="0">
                <a:solidFill>
                  <a:srgbClr val="63705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637052"/>
                </a:solidFill>
                <a:latin typeface="Calibri"/>
                <a:cs typeface="Calibri"/>
              </a:rPr>
              <a:t>-</a:t>
            </a:r>
            <a:r>
              <a:rPr sz="1800" spc="-60" dirty="0">
                <a:solidFill>
                  <a:srgbClr val="637052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637052"/>
                </a:solidFill>
                <a:latin typeface="Calibri"/>
                <a:cs typeface="Calibri"/>
              </a:rPr>
              <a:t>IIT2023197 </a:t>
            </a:r>
            <a:r>
              <a:rPr sz="1800" dirty="0">
                <a:solidFill>
                  <a:srgbClr val="637052"/>
                </a:solidFill>
                <a:latin typeface="Calibri"/>
                <a:cs typeface="Calibri"/>
              </a:rPr>
              <a:t>Eshant</a:t>
            </a:r>
            <a:r>
              <a:rPr sz="1800" spc="-50" dirty="0">
                <a:solidFill>
                  <a:srgbClr val="63705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637052"/>
                </a:solidFill>
                <a:latin typeface="Calibri"/>
                <a:cs typeface="Calibri"/>
              </a:rPr>
              <a:t>-</a:t>
            </a:r>
            <a:r>
              <a:rPr sz="1800" spc="-45" dirty="0">
                <a:solidFill>
                  <a:srgbClr val="637052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637052"/>
                </a:solidFill>
                <a:latin typeface="Calibri"/>
                <a:cs typeface="Calibri"/>
              </a:rPr>
              <a:t>IIT2023198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07050" y="220423"/>
            <a:ext cx="2171699" cy="19752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B45F06"/>
                </a:solidFill>
              </a:rPr>
              <a:t>Problem</a:t>
            </a:r>
            <a:r>
              <a:rPr spc="-100" dirty="0">
                <a:solidFill>
                  <a:srgbClr val="B45F06"/>
                </a:solidFill>
              </a:rPr>
              <a:t> </a:t>
            </a:r>
            <a:r>
              <a:rPr spc="-10" dirty="0">
                <a:solidFill>
                  <a:srgbClr val="B45F06"/>
                </a:solidFill>
              </a:rPr>
              <a:t>Statement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3760" y="1545590"/>
            <a:ext cx="7376795" cy="2565400"/>
          </a:xfrm>
          <a:prstGeom prst="rect">
            <a:avLst/>
          </a:prstGeom>
        </p:spPr>
        <p:txBody>
          <a:bodyPr vert="horz" wrap="square" lIns="0" tIns="1270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0"/>
              </a:spcBef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Core</a:t>
            </a:r>
            <a:r>
              <a:rPr sz="1500" b="1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Problem:</a:t>
            </a:r>
            <a:r>
              <a:rPr sz="1500" b="1" spc="-1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University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timetabling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is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complex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matching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problem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classified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as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NP-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hard.</a:t>
            </a:r>
            <a:endParaRPr sz="1500" dirty="0">
              <a:latin typeface="Calibri"/>
              <a:cs typeface="Calibri"/>
            </a:endParaRPr>
          </a:p>
          <a:p>
            <a:pPr marL="406400" marR="202565" indent="-336550">
              <a:lnSpc>
                <a:spcPct val="15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06400" algn="l"/>
              </a:tabLst>
            </a:pP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This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means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finding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perfect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solution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is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too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slow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for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large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schedules,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so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we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use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heuristic algorithms instead.</a:t>
            </a:r>
            <a:endParaRPr sz="15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65"/>
              </a:spcBef>
              <a:buClr>
                <a:srgbClr val="E48312"/>
              </a:buClr>
              <a:buFont typeface="Microsoft Sans Serif"/>
              <a:buChar char="●"/>
            </a:pPr>
            <a:endParaRPr sz="15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500" b="1" spc="-10" dirty="0">
                <a:solidFill>
                  <a:srgbClr val="3E3E3E"/>
                </a:solidFill>
                <a:latin typeface="Calibri"/>
                <a:cs typeface="Calibri"/>
              </a:rPr>
              <a:t>Mathematical</a:t>
            </a:r>
            <a:r>
              <a:rPr sz="1500" b="1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Objective:</a:t>
            </a:r>
            <a:r>
              <a:rPr sz="1500" b="1" spc="-1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Minimize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cost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function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lang="en-IN" sz="1500" b="1" spc="-25" dirty="0">
                <a:solidFill>
                  <a:srgbClr val="3E3E3E"/>
                </a:solidFill>
                <a:latin typeface="Calibri"/>
                <a:cs typeface="Calibri"/>
              </a:rPr>
              <a:t>P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(x)</a:t>
            </a:r>
            <a:r>
              <a:rPr sz="1500" b="1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where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H(x)</a:t>
            </a:r>
            <a:r>
              <a:rPr sz="1500" b="1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=</a:t>
            </a:r>
            <a:r>
              <a:rPr sz="1500" b="1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0</a:t>
            </a:r>
            <a:r>
              <a:rPr sz="1500" b="1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(hard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constraints)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and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spc="-20" dirty="0">
                <a:solidFill>
                  <a:srgbClr val="3E3E3E"/>
                </a:solidFill>
                <a:latin typeface="Calibri"/>
                <a:cs typeface="Calibri"/>
              </a:rPr>
              <a:t>S(x)</a:t>
            </a:r>
            <a:endParaRPr sz="15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00"/>
              </a:spcBef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&gt;=</a:t>
            </a:r>
            <a:r>
              <a:rPr sz="1500" b="1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min</a:t>
            </a:r>
            <a:r>
              <a:rPr sz="1500" b="1" spc="-1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(soft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constraints).</a:t>
            </a:r>
            <a:endParaRPr sz="1500" dirty="0">
              <a:latin typeface="Calibri"/>
              <a:cs typeface="Calibri"/>
            </a:endParaRPr>
          </a:p>
          <a:p>
            <a:pPr marL="405765" indent="-335915">
              <a:lnSpc>
                <a:spcPct val="100000"/>
              </a:lnSpc>
              <a:spcBef>
                <a:spcPts val="900"/>
              </a:spcBef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05765" algn="l"/>
              </a:tabLst>
            </a:pP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Hard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constraints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are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strict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rules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that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must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never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be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broken.</a:t>
            </a:r>
            <a:endParaRPr sz="1500" dirty="0">
              <a:latin typeface="Calibri"/>
              <a:cs typeface="Calibri"/>
            </a:endParaRPr>
          </a:p>
          <a:p>
            <a:pPr marL="405765" indent="-335915">
              <a:lnSpc>
                <a:spcPct val="100000"/>
              </a:lnSpc>
              <a:spcBef>
                <a:spcPts val="900"/>
              </a:spcBef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05765" algn="l"/>
              </a:tabLst>
            </a:pP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Soft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constraints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improve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schedule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quality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but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are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not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strictly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required.</a:t>
            </a:r>
            <a:endParaRPr sz="15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4800600"/>
            <a:ext cx="9144000" cy="342900"/>
          </a:xfrm>
          <a:custGeom>
            <a:avLst/>
            <a:gdLst/>
            <a:ahLst/>
            <a:cxnLst/>
            <a:rect l="l" t="t" r="r" b="b"/>
            <a:pathLst>
              <a:path w="9144000" h="342900">
                <a:moveTo>
                  <a:pt x="9143999" y="342899"/>
                </a:moveTo>
                <a:lnTo>
                  <a:pt x="0" y="3428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342899"/>
                </a:lnTo>
                <a:close/>
              </a:path>
            </a:pathLst>
          </a:custGeom>
          <a:solidFill>
            <a:srgbClr val="BD58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2024" y="-22271"/>
            <a:ext cx="2943225" cy="51943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3200" dirty="0"/>
              <a:t>Literature</a:t>
            </a:r>
            <a:r>
              <a:rPr sz="3200" spc="-125" dirty="0"/>
              <a:t> </a:t>
            </a:r>
            <a:r>
              <a:rPr sz="3200" spc="-10" dirty="0"/>
              <a:t>Review</a:t>
            </a:r>
            <a:endParaRPr sz="3200"/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756899"/>
              </p:ext>
            </p:extLst>
          </p:nvPr>
        </p:nvGraphicFramePr>
        <p:xfrm>
          <a:off x="0" y="487468"/>
          <a:ext cx="9144632" cy="43131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81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9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3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3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84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51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5924">
                <a:tc rowSpan="5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FFFFFF"/>
                      </a:solidFill>
                      <a:prstDash val="solid"/>
                    </a:lnR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65"/>
                        </a:spcBef>
                      </a:pPr>
                      <a:r>
                        <a:rPr sz="1400" b="1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Method</a:t>
                      </a:r>
                      <a:r>
                        <a:rPr sz="1400" b="1" spc="-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400" b="1" spc="1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/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209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293C55"/>
                    </a:solidFill>
                  </a:tcPr>
                </a:tc>
                <a:tc>
                  <a:txBody>
                    <a:bodyPr/>
                    <a:lstStyle/>
                    <a:p>
                      <a:pPr marL="578485">
                        <a:lnSpc>
                          <a:spcPct val="100000"/>
                        </a:lnSpc>
                        <a:spcBef>
                          <a:spcPts val="165"/>
                        </a:spcBef>
                      </a:pPr>
                      <a:r>
                        <a:rPr sz="1400" b="1" spc="-1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Key</a:t>
                      </a:r>
                      <a:r>
                        <a:rPr sz="1400" b="1" spc="-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400" b="1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Idea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209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293C55"/>
                    </a:solidFill>
                  </a:tcPr>
                </a:tc>
                <a:tc>
                  <a:txBody>
                    <a:bodyPr/>
                    <a:lstStyle/>
                    <a:p>
                      <a:pPr marL="519430">
                        <a:lnSpc>
                          <a:spcPct val="100000"/>
                        </a:lnSpc>
                        <a:spcBef>
                          <a:spcPts val="165"/>
                        </a:spcBef>
                      </a:pPr>
                      <a:r>
                        <a:rPr sz="14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Advantages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209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293C55"/>
                    </a:solidFill>
                  </a:tcPr>
                </a:tc>
                <a:tc>
                  <a:txBody>
                    <a:bodyPr/>
                    <a:lstStyle/>
                    <a:p>
                      <a:pPr marL="542925">
                        <a:lnSpc>
                          <a:spcPct val="100000"/>
                        </a:lnSpc>
                        <a:spcBef>
                          <a:spcPts val="165"/>
                        </a:spcBef>
                      </a:pPr>
                      <a:r>
                        <a:rPr sz="14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Limitations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209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293C55"/>
                    </a:solidFill>
                  </a:tcPr>
                </a:tc>
                <a:tc>
                  <a:txBody>
                    <a:bodyPr/>
                    <a:lstStyle/>
                    <a:p>
                      <a:pPr marL="221615">
                        <a:lnSpc>
                          <a:spcPct val="100000"/>
                        </a:lnSpc>
                        <a:spcBef>
                          <a:spcPts val="165"/>
                        </a:spcBef>
                      </a:pPr>
                      <a:r>
                        <a:rPr sz="14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Reference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209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solidFill>
                      <a:srgbClr val="293C55"/>
                    </a:solidFill>
                  </a:tcPr>
                </a:tc>
                <a:tc rowSpan="5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38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E483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60"/>
                        </a:lnSpc>
                      </a:pPr>
                      <a:r>
                        <a:rPr sz="14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Technique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93C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93C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93C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93C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93C55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57150" cap="flat" cmpd="sng" algn="ctr">
                      <a:solidFill>
                        <a:srgbClr val="E483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747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FFFFFF"/>
                      </a:solidFill>
                      <a:prstDash val="solid"/>
                    </a:lnR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71120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7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Genetic</a:t>
                      </a:r>
                      <a:r>
                        <a:rPr sz="1200" b="1" spc="-3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Algorithm 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(GA)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>
                  <a:txBody>
                    <a:bodyPr/>
                    <a:lstStyle/>
                    <a:p>
                      <a:pPr marL="66675" marR="101600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8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Represents</a:t>
                      </a:r>
                      <a:r>
                        <a:rPr sz="1200" b="1" spc="-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5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timetables</a:t>
                      </a:r>
                      <a:r>
                        <a:rPr sz="1200" b="1" spc="-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9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as </a:t>
                      </a:r>
                      <a:r>
                        <a:rPr sz="1200" b="1" spc="-9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chromosomes</a:t>
                      </a:r>
                      <a:r>
                        <a:rPr sz="1200" b="1" spc="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and </a:t>
                      </a:r>
                      <a:r>
                        <a:rPr sz="1200" b="1" spc="-7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evolves</a:t>
                      </a:r>
                      <a:r>
                        <a:rPr sz="1200" b="1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5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them</a:t>
                      </a:r>
                      <a:r>
                        <a:rPr sz="1200" b="1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using </a:t>
                      </a:r>
                      <a:r>
                        <a:rPr sz="1200" b="1" spc="-8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crossover</a:t>
                      </a:r>
                      <a:r>
                        <a:rPr sz="1200" b="1" spc="-5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and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mutation.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>
                  <a:txBody>
                    <a:bodyPr/>
                    <a:lstStyle/>
                    <a:p>
                      <a:pPr marL="66675" marR="93980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8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Explores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large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search </a:t>
                      </a:r>
                      <a:r>
                        <a:rPr sz="1200" b="1" spc="-8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space</a:t>
                      </a:r>
                      <a:r>
                        <a:rPr sz="1200" b="1" spc="-3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and</a:t>
                      </a:r>
                      <a:r>
                        <a:rPr sz="1200" b="1" spc="-3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improves </a:t>
                      </a:r>
                      <a:r>
                        <a:rPr sz="1200" b="1" spc="-8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solutions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over</a:t>
                      </a:r>
                      <a:r>
                        <a:rPr sz="1200" b="1" spc="-5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generations.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>
                  <a:txBody>
                    <a:bodyPr/>
                    <a:lstStyle/>
                    <a:p>
                      <a:pPr marL="66040" marR="233045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8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Crossover</a:t>
                      </a:r>
                      <a:r>
                        <a:rPr sz="1200" b="1" spc="-4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frequently </a:t>
                      </a:r>
                      <a:r>
                        <a:rPr sz="1200" b="1" spc="-8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breaks</a:t>
                      </a:r>
                      <a:r>
                        <a:rPr sz="1200" b="1" spc="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structures, </a:t>
                      </a:r>
                      <a:r>
                        <a:rPr sz="1200" b="1" spc="-6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requiring</a:t>
                      </a:r>
                      <a:r>
                        <a:rPr sz="1200" b="1" spc="-1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6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complex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5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repair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tools.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>
                  <a:txBody>
                    <a:bodyPr/>
                    <a:lstStyle/>
                    <a:p>
                      <a:pPr marL="66675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10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Burke</a:t>
                      </a:r>
                      <a:r>
                        <a:rPr sz="1200" b="1" spc="-3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1200" b="1" spc="-3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al.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894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E483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168910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Evolution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Strategy</a:t>
                      </a:r>
                      <a:r>
                        <a:rPr sz="1200" b="1" spc="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(1+1-</a:t>
                      </a:r>
                      <a:r>
                        <a:rPr sz="1200" b="1" spc="-1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ES)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>
                  <a:txBody>
                    <a:bodyPr/>
                    <a:lstStyle/>
                    <a:p>
                      <a:pPr marL="66675" marR="398780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Maintains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single </a:t>
                      </a:r>
                      <a:r>
                        <a:rPr sz="1200" b="1" spc="-8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solution</a:t>
                      </a:r>
                      <a:r>
                        <a:rPr sz="1200" b="1" spc="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and</a:t>
                      </a:r>
                      <a:r>
                        <a:rPr sz="1200" b="1" spc="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iterates </a:t>
                      </a:r>
                      <a:r>
                        <a:rPr sz="1200" b="1" spc="-1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using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mutation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5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only.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>
                  <a:txBody>
                    <a:bodyPr/>
                    <a:lstStyle/>
                    <a:p>
                      <a:pPr marL="66675" marR="146685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Lower</a:t>
                      </a:r>
                      <a:r>
                        <a:rPr sz="1200" b="1" spc="-4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9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cost</a:t>
                      </a:r>
                      <a:r>
                        <a:rPr sz="1200" b="1" spc="-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6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(evaluates</a:t>
                      </a:r>
                      <a:r>
                        <a:rPr sz="1200" b="1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one </a:t>
                      </a:r>
                      <a:r>
                        <a:rPr sz="1200" b="1" spc="-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candidate);</a:t>
                      </a:r>
                      <a:r>
                        <a:rPr sz="1200" b="1" spc="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avoids </a:t>
                      </a:r>
                      <a:r>
                        <a:rPr sz="1200" b="1" spc="-5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destructive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crossover.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>
                  <a:txBody>
                    <a:bodyPr/>
                    <a:lstStyle/>
                    <a:p>
                      <a:pPr marL="66040" marR="102870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8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Requires</a:t>
                      </a:r>
                      <a:r>
                        <a:rPr sz="1200" b="1" spc="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5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extremely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5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careful </a:t>
                      </a:r>
                      <a:r>
                        <a:rPr sz="1200" b="1" spc="-10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design</a:t>
                      </a:r>
                      <a:r>
                        <a:rPr sz="1200" b="1" spc="-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6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of</a:t>
                      </a:r>
                      <a:r>
                        <a:rPr sz="1200" b="1" spc="-3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mutation operators.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>
                  <a:txBody>
                    <a:bodyPr/>
                    <a:lstStyle/>
                    <a:p>
                      <a:pPr marL="66675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Srivastava</a:t>
                      </a:r>
                      <a:r>
                        <a:rPr sz="1200" b="1" spc="-3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1200" b="1" spc="-3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al.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4D8CA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57150" cap="flat" cmpd="sng" algn="ctr">
                      <a:solidFill>
                        <a:srgbClr val="E483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740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FFFFFF"/>
                      </a:solidFill>
                      <a:prstDash val="solid"/>
                    </a:lnR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81280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5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Improved</a:t>
                      </a:r>
                      <a:r>
                        <a:rPr sz="1200" b="1" spc="-4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ES</a:t>
                      </a:r>
                      <a:r>
                        <a:rPr sz="1200" b="1" spc="-6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with Preprocessing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7150">
                      <a:solidFill>
                        <a:srgbClr val="E48312"/>
                      </a:solidFill>
                      <a:prstDash val="solid"/>
                    </a:lnB>
                    <a:solidFill>
                      <a:srgbClr val="FAECE6"/>
                    </a:solidFill>
                  </a:tcPr>
                </a:tc>
                <a:tc>
                  <a:txBody>
                    <a:bodyPr/>
                    <a:lstStyle/>
                    <a:p>
                      <a:pPr marL="66675" marR="387350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8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Combines</a:t>
                      </a:r>
                      <a:r>
                        <a:rPr sz="1200" b="1" spc="-3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1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ES</a:t>
                      </a:r>
                      <a:r>
                        <a:rPr sz="1200" b="1" spc="-6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with 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preprocessing </a:t>
                      </a:r>
                      <a:r>
                        <a:rPr sz="1200" b="1" spc="-7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techniques</a:t>
                      </a:r>
                      <a:r>
                        <a:rPr sz="1200" b="1" spc="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and </a:t>
                      </a:r>
                      <a:r>
                        <a:rPr sz="1200" b="1" spc="-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structured</a:t>
                      </a:r>
                      <a:r>
                        <a:rPr sz="1200" b="1" spc="-1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mutation.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7150">
                      <a:solidFill>
                        <a:srgbClr val="E48312"/>
                      </a:solidFill>
                      <a:prstDash val="solid"/>
                    </a:lnB>
                    <a:solidFill>
                      <a:srgbClr val="FAECE6"/>
                    </a:solidFill>
                  </a:tcPr>
                </a:tc>
                <a:tc>
                  <a:txBody>
                    <a:bodyPr/>
                    <a:lstStyle/>
                    <a:p>
                      <a:pPr marL="66675" marR="158750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9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Faster</a:t>
                      </a:r>
                      <a:r>
                        <a:rPr sz="1200" b="1" spc="-3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8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convergence</a:t>
                      </a:r>
                      <a:r>
                        <a:rPr sz="1200" b="1" spc="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speed and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8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produces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much </a:t>
                      </a:r>
                      <a:r>
                        <a:rPr sz="1200" b="1" spc="-7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higher-</a:t>
                      </a:r>
                      <a:r>
                        <a:rPr sz="1200" b="1" spc="-3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r>
                        <a:rPr sz="1200" b="1" spc="3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5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schedules.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7150">
                      <a:solidFill>
                        <a:srgbClr val="E48312"/>
                      </a:solidFill>
                      <a:prstDash val="solid"/>
                    </a:lnB>
                    <a:solidFill>
                      <a:srgbClr val="FAECE6"/>
                    </a:solidFill>
                  </a:tcPr>
                </a:tc>
                <a:tc>
                  <a:txBody>
                    <a:bodyPr/>
                    <a:lstStyle/>
                    <a:p>
                      <a:pPr marL="66040" marR="137795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Implementation </a:t>
                      </a:r>
                      <a:r>
                        <a:rPr sz="1200" b="1" spc="-6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complexity</a:t>
                      </a:r>
                      <a:r>
                        <a:rPr sz="1200" b="1" spc="-1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slightly</a:t>
                      </a:r>
                      <a:r>
                        <a:rPr sz="1200" b="1" spc="-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7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higher.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7150">
                      <a:solidFill>
                        <a:srgbClr val="E48312"/>
                      </a:solidFill>
                      <a:prstDash val="solid"/>
                    </a:lnB>
                    <a:solidFill>
                      <a:srgbClr val="FAECE6"/>
                    </a:solidFill>
                  </a:tcPr>
                </a:tc>
                <a:tc>
                  <a:txBody>
                    <a:bodyPr/>
                    <a:lstStyle/>
                    <a:p>
                      <a:pPr marL="66675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200" b="1" spc="-7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Srivastava</a:t>
                      </a:r>
                      <a:r>
                        <a:rPr sz="1200" b="1" spc="-3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1200" b="1" spc="-30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b="1" spc="-25" dirty="0">
                          <a:solidFill>
                            <a:srgbClr val="3C4650"/>
                          </a:solidFill>
                          <a:latin typeface="Arial"/>
                          <a:cs typeface="Arial"/>
                        </a:rPr>
                        <a:t>al.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222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7150">
                      <a:solidFill>
                        <a:srgbClr val="E48312"/>
                      </a:solidFill>
                      <a:prstDash val="solid"/>
                    </a:lnB>
                    <a:solidFill>
                      <a:srgbClr val="FAECE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B w="57150">
                      <a:solidFill>
                        <a:srgbClr val="E4831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Formulation</a:t>
            </a:r>
            <a:r>
              <a:rPr spc="-80" dirty="0"/>
              <a:t> </a:t>
            </a:r>
            <a:r>
              <a:rPr dirty="0"/>
              <a:t>of</a:t>
            </a:r>
            <a:r>
              <a:rPr spc="-70" dirty="0"/>
              <a:t> </a:t>
            </a:r>
            <a:r>
              <a:rPr dirty="0"/>
              <a:t>Hard</a:t>
            </a:r>
            <a:r>
              <a:rPr spc="-70" dirty="0"/>
              <a:t> </a:t>
            </a:r>
            <a:r>
              <a:rPr spc="-10" dirty="0"/>
              <a:t>Constraints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762859" y="1352550"/>
            <a:ext cx="7520305" cy="30777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30" dirty="0"/>
              <a:t> </a:t>
            </a:r>
            <a:r>
              <a:rPr dirty="0"/>
              <a:t>solver</a:t>
            </a:r>
            <a:r>
              <a:rPr spc="-30" dirty="0"/>
              <a:t> </a:t>
            </a:r>
            <a:r>
              <a:rPr spc="-10" dirty="0"/>
              <a:t>evaluates</a:t>
            </a:r>
            <a:r>
              <a:rPr spc="-30" dirty="0"/>
              <a:t> </a:t>
            </a:r>
            <a:r>
              <a:rPr dirty="0"/>
              <a:t>fitness</a:t>
            </a:r>
            <a:r>
              <a:rPr spc="-30" dirty="0"/>
              <a:t> </a:t>
            </a:r>
            <a:r>
              <a:rPr dirty="0"/>
              <a:t>using</a:t>
            </a:r>
            <a:r>
              <a:rPr spc="-30" dirty="0"/>
              <a:t> </a:t>
            </a:r>
            <a:r>
              <a:rPr dirty="0"/>
              <a:t>a</a:t>
            </a:r>
            <a:r>
              <a:rPr spc="-30" dirty="0"/>
              <a:t> </a:t>
            </a:r>
            <a:r>
              <a:rPr spc="-10" dirty="0"/>
              <a:t>scalarized</a:t>
            </a:r>
            <a:r>
              <a:rPr spc="-30" dirty="0"/>
              <a:t> </a:t>
            </a:r>
            <a:r>
              <a:rPr dirty="0"/>
              <a:t>penalty</a:t>
            </a:r>
            <a:r>
              <a:rPr spc="-30" dirty="0"/>
              <a:t> </a:t>
            </a:r>
            <a:r>
              <a:rPr spc="-10" dirty="0"/>
              <a:t>function:</a:t>
            </a:r>
          </a:p>
          <a:p>
            <a:pPr marL="50800">
              <a:lnSpc>
                <a:spcPts val="1430"/>
              </a:lnSpc>
              <a:spcBef>
                <a:spcPts val="1200"/>
              </a:spcBef>
              <a:tabLst>
                <a:tab pos="1258570" algn="l"/>
                <a:tab pos="1782445" algn="l"/>
                <a:tab pos="2701290" algn="l"/>
                <a:tab pos="3143250" algn="l"/>
              </a:tabLst>
            </a:pPr>
            <a:r>
              <a:rPr b="1" dirty="0">
                <a:latin typeface="Calibri"/>
                <a:cs typeface="Calibri"/>
              </a:rPr>
              <a:t>P(S)</a:t>
            </a:r>
            <a:r>
              <a:rPr b="1" spc="-15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=</a:t>
            </a:r>
            <a:r>
              <a:rPr b="1" spc="-5" dirty="0">
                <a:latin typeface="Calibri"/>
                <a:cs typeface="Calibri"/>
              </a:rPr>
              <a:t> </a:t>
            </a:r>
            <a:r>
              <a:rPr b="1" dirty="0">
                <a:latin typeface="Arial"/>
                <a:cs typeface="Arial"/>
              </a:rPr>
              <a:t>Σ</a:t>
            </a:r>
            <a:r>
              <a:rPr b="1" spc="-90" dirty="0">
                <a:latin typeface="Arial"/>
                <a:cs typeface="Arial"/>
              </a:rPr>
              <a:t> </a:t>
            </a:r>
            <a:r>
              <a:rPr b="1" spc="-25" dirty="0">
                <a:latin typeface="Calibri"/>
                <a:cs typeface="Calibri"/>
              </a:rPr>
              <a:t>(W</a:t>
            </a:r>
            <a:r>
              <a:rPr b="1" dirty="0">
                <a:latin typeface="Calibri"/>
                <a:cs typeface="Calibri"/>
              </a:rPr>
              <a:t>	*</a:t>
            </a:r>
            <a:r>
              <a:rPr b="1" spc="320" dirty="0">
                <a:latin typeface="Calibri"/>
                <a:cs typeface="Calibri"/>
              </a:rPr>
              <a:t> </a:t>
            </a:r>
            <a:r>
              <a:rPr b="1" spc="-50" dirty="0">
                <a:latin typeface="Calibri"/>
                <a:cs typeface="Calibri"/>
              </a:rPr>
              <a:t>C</a:t>
            </a:r>
            <a:r>
              <a:rPr b="1" dirty="0">
                <a:latin typeface="Calibri"/>
                <a:cs typeface="Calibri"/>
              </a:rPr>
              <a:t>	)</a:t>
            </a:r>
            <a:r>
              <a:rPr b="1" spc="-10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+ </a:t>
            </a:r>
            <a:r>
              <a:rPr b="1" dirty="0">
                <a:latin typeface="Arial"/>
                <a:cs typeface="Arial"/>
              </a:rPr>
              <a:t>Σ</a:t>
            </a:r>
            <a:r>
              <a:rPr b="1" spc="250" dirty="0">
                <a:latin typeface="Arial"/>
                <a:cs typeface="Arial"/>
              </a:rPr>
              <a:t> </a:t>
            </a:r>
            <a:r>
              <a:rPr b="1" spc="-25" dirty="0">
                <a:latin typeface="Calibri"/>
                <a:cs typeface="Calibri"/>
              </a:rPr>
              <a:t>(W</a:t>
            </a:r>
            <a:r>
              <a:rPr b="1" dirty="0">
                <a:latin typeface="Calibri"/>
                <a:cs typeface="Calibri"/>
              </a:rPr>
              <a:t>	*</a:t>
            </a:r>
            <a:r>
              <a:rPr b="1" spc="-15" dirty="0">
                <a:latin typeface="Calibri"/>
                <a:cs typeface="Calibri"/>
              </a:rPr>
              <a:t> </a:t>
            </a:r>
            <a:r>
              <a:rPr b="1" spc="-50" dirty="0">
                <a:latin typeface="Calibri"/>
                <a:cs typeface="Calibri"/>
              </a:rPr>
              <a:t>C</a:t>
            </a:r>
            <a:r>
              <a:rPr b="1" dirty="0">
                <a:latin typeface="Calibri"/>
                <a:cs typeface="Calibri"/>
              </a:rPr>
              <a:t>	</a:t>
            </a:r>
            <a:r>
              <a:rPr b="1" spc="-50" dirty="0">
                <a:latin typeface="Calibri"/>
                <a:cs typeface="Calibri"/>
              </a:rPr>
              <a:t>)</a:t>
            </a:r>
          </a:p>
          <a:p>
            <a:pPr marL="930910">
              <a:lnSpc>
                <a:spcPts val="830"/>
              </a:lnSpc>
              <a:tabLst>
                <a:tab pos="1540510" algn="l"/>
                <a:tab pos="2454910" algn="l"/>
                <a:tab pos="2940050" algn="l"/>
              </a:tabLst>
            </a:pPr>
            <a:r>
              <a:rPr sz="1000" b="1" spc="-20" dirty="0">
                <a:latin typeface="Calibri"/>
                <a:cs typeface="Calibri"/>
              </a:rPr>
              <a:t>hard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hard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soft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soft</a:t>
            </a:r>
            <a:endParaRPr sz="1000" dirty="0">
              <a:latin typeface="Calibri"/>
              <a:cs typeface="Calibri"/>
            </a:endParaRPr>
          </a:p>
          <a:p>
            <a:pPr marL="50800">
              <a:lnSpc>
                <a:spcPct val="100000"/>
              </a:lnSpc>
              <a:spcBef>
                <a:spcPts val="735"/>
              </a:spcBef>
            </a:pPr>
            <a:r>
              <a:rPr b="1" dirty="0">
                <a:latin typeface="Calibri"/>
                <a:cs typeface="Calibri"/>
              </a:rPr>
              <a:t>Hard</a:t>
            </a:r>
            <a:r>
              <a:rPr b="1" spc="-55" dirty="0">
                <a:latin typeface="Calibri"/>
                <a:cs typeface="Calibri"/>
              </a:rPr>
              <a:t> </a:t>
            </a:r>
            <a:r>
              <a:rPr b="1" spc="-10" dirty="0">
                <a:latin typeface="Calibri"/>
                <a:cs typeface="Calibri"/>
              </a:rPr>
              <a:t>Constraints</a:t>
            </a:r>
            <a:r>
              <a:rPr b="1" spc="-50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(W</a:t>
            </a:r>
            <a:r>
              <a:rPr sz="1500" b="1" baseline="-30555" dirty="0">
                <a:latin typeface="Calibri"/>
                <a:cs typeface="Calibri"/>
              </a:rPr>
              <a:t>hard</a:t>
            </a:r>
            <a:r>
              <a:rPr sz="1500" b="1" dirty="0">
                <a:latin typeface="Calibri"/>
                <a:cs typeface="Calibri"/>
              </a:rPr>
              <a:t>=</a:t>
            </a:r>
            <a:r>
              <a:rPr sz="1500" b="1" spc="-55" dirty="0">
                <a:latin typeface="Calibri"/>
                <a:cs typeface="Calibri"/>
              </a:rPr>
              <a:t> </a:t>
            </a:r>
            <a:r>
              <a:rPr sz="1500" b="1" spc="-10" dirty="0">
                <a:latin typeface="Calibri"/>
                <a:cs typeface="Calibri"/>
              </a:rPr>
              <a:t>1000):</a:t>
            </a:r>
            <a:endParaRPr sz="1500" dirty="0">
              <a:latin typeface="Calibri"/>
              <a:cs typeface="Calibri"/>
            </a:endParaRPr>
          </a:p>
          <a:p>
            <a:pPr marL="507365" indent="-335915">
              <a:lnSpc>
                <a:spcPct val="100000"/>
              </a:lnSpc>
              <a:spcBef>
                <a:spcPts val="1200"/>
              </a:spcBef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IN" b="1" dirty="0">
                <a:latin typeface="Calibri"/>
                <a:cs typeface="Calibri"/>
              </a:rPr>
              <a:t>TIME</a:t>
            </a:r>
            <a:r>
              <a:rPr b="1" spc="-35" dirty="0">
                <a:latin typeface="Calibri"/>
                <a:cs typeface="Calibri"/>
              </a:rPr>
              <a:t> </a:t>
            </a:r>
            <a:r>
              <a:rPr lang="en-IN" b="1" dirty="0">
                <a:latin typeface="Calibri"/>
                <a:cs typeface="Calibri"/>
              </a:rPr>
              <a:t>BOUNDARY</a:t>
            </a:r>
            <a:r>
              <a:rPr b="1" dirty="0">
                <a:latin typeface="Calibri"/>
                <a:cs typeface="Calibri"/>
              </a:rPr>
              <a:t>:</a:t>
            </a:r>
            <a:r>
              <a:rPr b="1" spc="-15" dirty="0">
                <a:latin typeface="Calibri"/>
                <a:cs typeface="Calibri"/>
              </a:rPr>
              <a:t> </a:t>
            </a:r>
            <a:r>
              <a:rPr lang="en-US" spc="-10" dirty="0"/>
              <a:t>A session must absolutely not exceed the final slot of the day.               </a:t>
            </a:r>
            <a:r>
              <a:rPr lang="en-US" spc="-10" dirty="0" err="1"/>
              <a:t>endSlot</a:t>
            </a:r>
            <a:r>
              <a:rPr lang="en-US" spc="-10" dirty="0"/>
              <a:t> = </a:t>
            </a:r>
            <a:r>
              <a:rPr lang="en-US" spc="-10" dirty="0" err="1"/>
              <a:t>startSlot</a:t>
            </a:r>
            <a:r>
              <a:rPr lang="en-US" spc="-10" dirty="0"/>
              <a:t> + duration - 1 must be ≤ 8 (18:30).</a:t>
            </a:r>
          </a:p>
          <a:p>
            <a:pPr marL="507365" indent="-335915">
              <a:lnSpc>
                <a:spcPct val="100000"/>
              </a:lnSpc>
              <a:spcBef>
                <a:spcPts val="1200"/>
              </a:spcBef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IN" b="1" dirty="0"/>
              <a:t>BREAK / LUNCH CROSSING</a:t>
            </a:r>
            <a:r>
              <a:rPr b="1" dirty="0">
                <a:latin typeface="Calibri"/>
                <a:cs typeface="Calibri"/>
              </a:rPr>
              <a:t>:</a:t>
            </a:r>
            <a:r>
              <a:rPr b="1" spc="-30" dirty="0">
                <a:latin typeface="Calibri"/>
                <a:cs typeface="Calibri"/>
              </a:rPr>
              <a:t> </a:t>
            </a:r>
            <a:r>
              <a:rPr lang="en-US" dirty="0"/>
              <a:t>A continuous multi-slot session (like a 2-hour lab) must NOT                span across a structural break.   </a:t>
            </a:r>
          </a:p>
          <a:p>
            <a:pPr marL="171450">
              <a:lnSpc>
                <a:spcPct val="100000"/>
              </a:lnSpc>
              <a:spcBef>
                <a:spcPts val="1200"/>
              </a:spcBef>
              <a:buClr>
                <a:srgbClr val="E48312"/>
              </a:buClr>
              <a:buSzPct val="93333"/>
              <a:tabLst>
                <a:tab pos="507365" algn="l"/>
              </a:tabLst>
            </a:pPr>
            <a:r>
              <a:rPr lang="en-US" dirty="0"/>
              <a:t>	- Slot 2 → Slot 3  (10:50 – 11:00 break)  • Slot 4 → Slot 5  (13:00 – 14:30 lunch)</a:t>
            </a:r>
            <a:r>
              <a:rPr lang="en-US" spc="-10" dirty="0"/>
              <a:t>.</a:t>
            </a:r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IN" b="1" spc="-10" dirty="0"/>
              <a:t>ROOM NON-OVERLAP</a:t>
            </a:r>
            <a:r>
              <a:rPr b="1" dirty="0">
                <a:latin typeface="Calibri"/>
                <a:cs typeface="Calibri"/>
              </a:rPr>
              <a:t>:</a:t>
            </a:r>
            <a:r>
              <a:rPr b="1" spc="-30" dirty="0">
                <a:latin typeface="Calibri"/>
                <a:cs typeface="Calibri"/>
              </a:rPr>
              <a:t> </a:t>
            </a:r>
            <a:r>
              <a:rPr lang="en-US" dirty="0"/>
              <a:t>A physical room can host at most ONE session at any (day, slot).               Multiple sessions placed in the same room simultaneously cause clashes.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660AA-D300-90CD-6C15-8F2A9C35E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2BA3BAC-505E-3BD1-7E06-46DF72E2A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Formulation</a:t>
            </a:r>
            <a:r>
              <a:rPr spc="-80" dirty="0"/>
              <a:t> </a:t>
            </a:r>
            <a:r>
              <a:rPr dirty="0"/>
              <a:t>of</a:t>
            </a:r>
            <a:r>
              <a:rPr spc="-70" dirty="0"/>
              <a:t> </a:t>
            </a:r>
            <a:r>
              <a:rPr dirty="0"/>
              <a:t>Hard</a:t>
            </a:r>
            <a:r>
              <a:rPr spc="-70" dirty="0"/>
              <a:t> </a:t>
            </a:r>
            <a:r>
              <a:rPr spc="-10" dirty="0"/>
              <a:t>Constraints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808DDDF-B5EA-6D68-31FE-E659CC40AB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1352550"/>
            <a:ext cx="7520305" cy="3154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30" dirty="0"/>
              <a:t> </a:t>
            </a:r>
            <a:r>
              <a:rPr dirty="0"/>
              <a:t>solver</a:t>
            </a:r>
            <a:r>
              <a:rPr spc="-30" dirty="0"/>
              <a:t> </a:t>
            </a:r>
            <a:r>
              <a:rPr spc="-10" dirty="0"/>
              <a:t>evaluates</a:t>
            </a:r>
            <a:r>
              <a:rPr spc="-30" dirty="0"/>
              <a:t> </a:t>
            </a:r>
            <a:r>
              <a:rPr dirty="0"/>
              <a:t>fitness</a:t>
            </a:r>
            <a:r>
              <a:rPr spc="-30" dirty="0"/>
              <a:t> </a:t>
            </a:r>
            <a:r>
              <a:rPr dirty="0"/>
              <a:t>using</a:t>
            </a:r>
            <a:r>
              <a:rPr spc="-30" dirty="0"/>
              <a:t> </a:t>
            </a:r>
            <a:r>
              <a:rPr dirty="0"/>
              <a:t>a</a:t>
            </a:r>
            <a:r>
              <a:rPr spc="-30" dirty="0"/>
              <a:t> </a:t>
            </a:r>
            <a:r>
              <a:rPr spc="-10" dirty="0"/>
              <a:t>scalarized</a:t>
            </a:r>
            <a:r>
              <a:rPr spc="-30" dirty="0"/>
              <a:t> </a:t>
            </a:r>
            <a:r>
              <a:rPr dirty="0"/>
              <a:t>penalty</a:t>
            </a:r>
            <a:r>
              <a:rPr spc="-30" dirty="0"/>
              <a:t> </a:t>
            </a:r>
            <a:r>
              <a:rPr spc="-10" dirty="0"/>
              <a:t>function:</a:t>
            </a:r>
          </a:p>
          <a:p>
            <a:pPr marL="50800">
              <a:lnSpc>
                <a:spcPts val="1430"/>
              </a:lnSpc>
              <a:spcBef>
                <a:spcPts val="1200"/>
              </a:spcBef>
              <a:tabLst>
                <a:tab pos="1258570" algn="l"/>
                <a:tab pos="1782445" algn="l"/>
                <a:tab pos="2701290" algn="l"/>
                <a:tab pos="3143250" algn="l"/>
              </a:tabLst>
            </a:pPr>
            <a:r>
              <a:rPr b="1" dirty="0">
                <a:latin typeface="Calibri"/>
                <a:cs typeface="Calibri"/>
              </a:rPr>
              <a:t>P(S)</a:t>
            </a:r>
            <a:r>
              <a:rPr b="1" spc="-15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=</a:t>
            </a:r>
            <a:r>
              <a:rPr b="1" spc="-5" dirty="0">
                <a:latin typeface="Calibri"/>
                <a:cs typeface="Calibri"/>
              </a:rPr>
              <a:t> </a:t>
            </a:r>
            <a:r>
              <a:rPr b="1" dirty="0">
                <a:latin typeface="Arial"/>
                <a:cs typeface="Arial"/>
              </a:rPr>
              <a:t>Σ</a:t>
            </a:r>
            <a:r>
              <a:rPr b="1" spc="-90" dirty="0">
                <a:latin typeface="Arial"/>
                <a:cs typeface="Arial"/>
              </a:rPr>
              <a:t> </a:t>
            </a:r>
            <a:r>
              <a:rPr b="1" spc="-25" dirty="0">
                <a:latin typeface="Calibri"/>
                <a:cs typeface="Calibri"/>
              </a:rPr>
              <a:t>(W</a:t>
            </a:r>
            <a:r>
              <a:rPr b="1" dirty="0">
                <a:latin typeface="Calibri"/>
                <a:cs typeface="Calibri"/>
              </a:rPr>
              <a:t>	*</a:t>
            </a:r>
            <a:r>
              <a:rPr b="1" spc="320" dirty="0">
                <a:latin typeface="Calibri"/>
                <a:cs typeface="Calibri"/>
              </a:rPr>
              <a:t> </a:t>
            </a:r>
            <a:r>
              <a:rPr b="1" spc="-50" dirty="0">
                <a:latin typeface="Calibri"/>
                <a:cs typeface="Calibri"/>
              </a:rPr>
              <a:t>C</a:t>
            </a:r>
            <a:r>
              <a:rPr b="1" dirty="0">
                <a:latin typeface="Calibri"/>
                <a:cs typeface="Calibri"/>
              </a:rPr>
              <a:t>	)</a:t>
            </a:r>
            <a:r>
              <a:rPr b="1" spc="-10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+ </a:t>
            </a:r>
            <a:r>
              <a:rPr b="1" dirty="0">
                <a:latin typeface="Arial"/>
                <a:cs typeface="Arial"/>
              </a:rPr>
              <a:t>Σ</a:t>
            </a:r>
            <a:r>
              <a:rPr b="1" spc="250" dirty="0">
                <a:latin typeface="Arial"/>
                <a:cs typeface="Arial"/>
              </a:rPr>
              <a:t> </a:t>
            </a:r>
            <a:r>
              <a:rPr b="1" spc="-25" dirty="0">
                <a:latin typeface="Calibri"/>
                <a:cs typeface="Calibri"/>
              </a:rPr>
              <a:t>(W</a:t>
            </a:r>
            <a:r>
              <a:rPr b="1" dirty="0">
                <a:latin typeface="Calibri"/>
                <a:cs typeface="Calibri"/>
              </a:rPr>
              <a:t>	*</a:t>
            </a:r>
            <a:r>
              <a:rPr b="1" spc="-15" dirty="0">
                <a:latin typeface="Calibri"/>
                <a:cs typeface="Calibri"/>
              </a:rPr>
              <a:t> </a:t>
            </a:r>
            <a:r>
              <a:rPr b="1" spc="-50" dirty="0">
                <a:latin typeface="Calibri"/>
                <a:cs typeface="Calibri"/>
              </a:rPr>
              <a:t>C</a:t>
            </a:r>
            <a:r>
              <a:rPr b="1" dirty="0">
                <a:latin typeface="Calibri"/>
                <a:cs typeface="Calibri"/>
              </a:rPr>
              <a:t>	</a:t>
            </a:r>
            <a:r>
              <a:rPr b="1" spc="-50" dirty="0">
                <a:latin typeface="Calibri"/>
                <a:cs typeface="Calibri"/>
              </a:rPr>
              <a:t>)</a:t>
            </a:r>
          </a:p>
          <a:p>
            <a:pPr marL="930910">
              <a:lnSpc>
                <a:spcPts val="830"/>
              </a:lnSpc>
              <a:tabLst>
                <a:tab pos="1540510" algn="l"/>
                <a:tab pos="2454910" algn="l"/>
                <a:tab pos="2940050" algn="l"/>
              </a:tabLst>
            </a:pPr>
            <a:r>
              <a:rPr sz="1000" b="1" spc="-20" dirty="0">
                <a:latin typeface="Calibri"/>
                <a:cs typeface="Calibri"/>
              </a:rPr>
              <a:t>hard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hard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soft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soft</a:t>
            </a:r>
            <a:endParaRPr sz="1000" dirty="0">
              <a:latin typeface="Calibri"/>
              <a:cs typeface="Calibri"/>
            </a:endParaRPr>
          </a:p>
          <a:p>
            <a:pPr marL="50800">
              <a:lnSpc>
                <a:spcPct val="100000"/>
              </a:lnSpc>
              <a:spcBef>
                <a:spcPts val="735"/>
              </a:spcBef>
            </a:pPr>
            <a:r>
              <a:rPr b="1" dirty="0">
                <a:latin typeface="Calibri"/>
                <a:cs typeface="Calibri"/>
              </a:rPr>
              <a:t>Hard</a:t>
            </a:r>
            <a:r>
              <a:rPr b="1" spc="-55" dirty="0">
                <a:latin typeface="Calibri"/>
                <a:cs typeface="Calibri"/>
              </a:rPr>
              <a:t> </a:t>
            </a:r>
            <a:r>
              <a:rPr b="1" spc="-10" dirty="0">
                <a:latin typeface="Calibri"/>
                <a:cs typeface="Calibri"/>
              </a:rPr>
              <a:t>Constraints</a:t>
            </a:r>
            <a:r>
              <a:rPr b="1" spc="-50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(W</a:t>
            </a:r>
            <a:r>
              <a:rPr sz="1500" b="1" baseline="-30555" dirty="0">
                <a:latin typeface="Calibri"/>
                <a:cs typeface="Calibri"/>
              </a:rPr>
              <a:t>hard</a:t>
            </a:r>
            <a:r>
              <a:rPr sz="1500" b="1" dirty="0">
                <a:latin typeface="Calibri"/>
                <a:cs typeface="Calibri"/>
              </a:rPr>
              <a:t>=</a:t>
            </a:r>
            <a:r>
              <a:rPr sz="1500" b="1" spc="-55" dirty="0">
                <a:latin typeface="Calibri"/>
                <a:cs typeface="Calibri"/>
              </a:rPr>
              <a:t> </a:t>
            </a:r>
            <a:r>
              <a:rPr sz="1500" b="1" spc="-10" dirty="0">
                <a:latin typeface="Calibri"/>
                <a:cs typeface="Calibri"/>
              </a:rPr>
              <a:t>1000):</a:t>
            </a:r>
            <a:endParaRPr sz="1500" dirty="0">
              <a:latin typeface="Calibri"/>
              <a:cs typeface="Calibri"/>
            </a:endParaRPr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US" b="1" dirty="0"/>
              <a:t>PROFESSOR NON-OVERLAP:</a:t>
            </a:r>
            <a:r>
              <a:rPr lang="en-US" b="1" spc="-30" dirty="0"/>
              <a:t> </a:t>
            </a:r>
            <a:r>
              <a:rPr lang="en-US" dirty="0"/>
              <a:t> A distinct professor can teach at most ONE session at any (day, slot).</a:t>
            </a:r>
            <a:endParaRPr lang="en-US" spc="-10" dirty="0"/>
          </a:p>
          <a:p>
            <a:pPr marL="507365" indent="-335915">
              <a:lnSpc>
                <a:spcPct val="100000"/>
              </a:lnSpc>
              <a:spcBef>
                <a:spcPts val="1200"/>
              </a:spcBef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IN" b="1" dirty="0"/>
              <a:t>STUDENT GROUP (SECTION) NON-OVERLAP: </a:t>
            </a:r>
            <a:r>
              <a:rPr lang="en-US" dirty="0"/>
              <a:t> A specific section of students can attend at most ONE session at any given (day, slot). </a:t>
            </a:r>
          </a:p>
          <a:p>
            <a:pPr marL="171450">
              <a:lnSpc>
                <a:spcPct val="100000"/>
              </a:lnSpc>
              <a:spcBef>
                <a:spcPts val="1200"/>
              </a:spcBef>
              <a:buClr>
                <a:srgbClr val="E48312"/>
              </a:buClr>
              <a:buSzPct val="93333"/>
              <a:tabLst>
                <a:tab pos="507365" algn="l"/>
              </a:tabLst>
            </a:pPr>
            <a:r>
              <a:rPr lang="en-US" b="1" dirty="0"/>
              <a:t>		Exception</a:t>
            </a:r>
            <a:r>
              <a:rPr lang="en-US" dirty="0"/>
              <a:t>: Sessions from the SAME basket (Synced or Free) are allowed to overlap                 		because students pick only one subject per basket.</a:t>
            </a:r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US" b="1" spc="-10" dirty="0"/>
              <a:t>HOME ROOM FOR LECTURES/TUTORIALS : </a:t>
            </a:r>
            <a:r>
              <a:rPr lang="en-US" spc="-10" dirty="0"/>
              <a:t>Core lectures and tutorials MUST occur in the designated 'Home Room'. (</a:t>
            </a:r>
            <a:r>
              <a:rPr lang="en-US" spc="-10" dirty="0" err="1"/>
              <a:t>Practicals</a:t>
            </a:r>
            <a:r>
              <a:rPr lang="en-US" spc="-10" dirty="0"/>
              <a:t> and Electives are exempt).</a:t>
            </a:r>
          </a:p>
        </p:txBody>
      </p:sp>
    </p:spTree>
    <p:extLst>
      <p:ext uri="{BB962C8B-B14F-4D97-AF65-F5344CB8AC3E}">
        <p14:creationId xmlns:p14="http://schemas.microsoft.com/office/powerpoint/2010/main" val="3908553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FF6-EEE1-F2B3-9BEE-43A7054E2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2EAA2B3-7CDD-9D6A-A7B4-E9B789BBC8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Formulation</a:t>
            </a:r>
            <a:r>
              <a:rPr spc="-80" dirty="0"/>
              <a:t> </a:t>
            </a:r>
            <a:r>
              <a:rPr dirty="0"/>
              <a:t>of</a:t>
            </a:r>
            <a:r>
              <a:rPr spc="-70" dirty="0"/>
              <a:t> </a:t>
            </a:r>
            <a:r>
              <a:rPr dirty="0"/>
              <a:t>Hard</a:t>
            </a:r>
            <a:r>
              <a:rPr spc="-70" dirty="0"/>
              <a:t> </a:t>
            </a:r>
            <a:r>
              <a:rPr spc="-10" dirty="0"/>
              <a:t>Constraints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FEE6040-5388-699C-25BA-23ECDA6360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1352550"/>
            <a:ext cx="7520305" cy="32316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30" dirty="0"/>
              <a:t> </a:t>
            </a:r>
            <a:r>
              <a:rPr dirty="0"/>
              <a:t>solver</a:t>
            </a:r>
            <a:r>
              <a:rPr spc="-30" dirty="0"/>
              <a:t> </a:t>
            </a:r>
            <a:r>
              <a:rPr spc="-10" dirty="0"/>
              <a:t>evaluates</a:t>
            </a:r>
            <a:r>
              <a:rPr spc="-30" dirty="0"/>
              <a:t> </a:t>
            </a:r>
            <a:r>
              <a:rPr dirty="0"/>
              <a:t>fitness</a:t>
            </a:r>
            <a:r>
              <a:rPr spc="-30" dirty="0"/>
              <a:t> </a:t>
            </a:r>
            <a:r>
              <a:rPr dirty="0"/>
              <a:t>using</a:t>
            </a:r>
            <a:r>
              <a:rPr spc="-30" dirty="0"/>
              <a:t> </a:t>
            </a:r>
            <a:r>
              <a:rPr dirty="0"/>
              <a:t>a</a:t>
            </a:r>
            <a:r>
              <a:rPr spc="-30" dirty="0"/>
              <a:t> </a:t>
            </a:r>
            <a:r>
              <a:rPr spc="-10" dirty="0"/>
              <a:t>scalarized</a:t>
            </a:r>
            <a:r>
              <a:rPr spc="-30" dirty="0"/>
              <a:t> </a:t>
            </a:r>
            <a:r>
              <a:rPr dirty="0"/>
              <a:t>penalty</a:t>
            </a:r>
            <a:r>
              <a:rPr spc="-30" dirty="0"/>
              <a:t> </a:t>
            </a:r>
            <a:r>
              <a:rPr spc="-10" dirty="0"/>
              <a:t>function:</a:t>
            </a:r>
          </a:p>
          <a:p>
            <a:pPr marL="50800">
              <a:lnSpc>
                <a:spcPts val="1430"/>
              </a:lnSpc>
              <a:spcBef>
                <a:spcPts val="1200"/>
              </a:spcBef>
              <a:tabLst>
                <a:tab pos="1258570" algn="l"/>
                <a:tab pos="1782445" algn="l"/>
                <a:tab pos="2701290" algn="l"/>
                <a:tab pos="3143250" algn="l"/>
              </a:tabLst>
            </a:pPr>
            <a:r>
              <a:rPr b="1" dirty="0">
                <a:latin typeface="Calibri"/>
                <a:cs typeface="Calibri"/>
              </a:rPr>
              <a:t>P(S)</a:t>
            </a:r>
            <a:r>
              <a:rPr b="1" spc="-15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=</a:t>
            </a:r>
            <a:r>
              <a:rPr b="1" spc="-5" dirty="0">
                <a:latin typeface="Calibri"/>
                <a:cs typeface="Calibri"/>
              </a:rPr>
              <a:t> </a:t>
            </a:r>
            <a:r>
              <a:rPr b="1" dirty="0">
                <a:latin typeface="Arial"/>
                <a:cs typeface="Arial"/>
              </a:rPr>
              <a:t>Σ</a:t>
            </a:r>
            <a:r>
              <a:rPr b="1" spc="-90" dirty="0">
                <a:latin typeface="Arial"/>
                <a:cs typeface="Arial"/>
              </a:rPr>
              <a:t> </a:t>
            </a:r>
            <a:r>
              <a:rPr b="1" spc="-25" dirty="0">
                <a:latin typeface="Calibri"/>
                <a:cs typeface="Calibri"/>
              </a:rPr>
              <a:t>(W</a:t>
            </a:r>
            <a:r>
              <a:rPr b="1" dirty="0">
                <a:latin typeface="Calibri"/>
                <a:cs typeface="Calibri"/>
              </a:rPr>
              <a:t>	*</a:t>
            </a:r>
            <a:r>
              <a:rPr b="1" spc="320" dirty="0">
                <a:latin typeface="Calibri"/>
                <a:cs typeface="Calibri"/>
              </a:rPr>
              <a:t> </a:t>
            </a:r>
            <a:r>
              <a:rPr b="1" spc="-50" dirty="0">
                <a:latin typeface="Calibri"/>
                <a:cs typeface="Calibri"/>
              </a:rPr>
              <a:t>C</a:t>
            </a:r>
            <a:r>
              <a:rPr b="1" dirty="0">
                <a:latin typeface="Calibri"/>
                <a:cs typeface="Calibri"/>
              </a:rPr>
              <a:t>	)</a:t>
            </a:r>
            <a:r>
              <a:rPr b="1" spc="-10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+ </a:t>
            </a:r>
            <a:r>
              <a:rPr b="1" dirty="0">
                <a:latin typeface="Arial"/>
                <a:cs typeface="Arial"/>
              </a:rPr>
              <a:t>Σ</a:t>
            </a:r>
            <a:r>
              <a:rPr b="1" spc="250" dirty="0">
                <a:latin typeface="Arial"/>
                <a:cs typeface="Arial"/>
              </a:rPr>
              <a:t> </a:t>
            </a:r>
            <a:r>
              <a:rPr b="1" spc="-25" dirty="0">
                <a:latin typeface="Calibri"/>
                <a:cs typeface="Calibri"/>
              </a:rPr>
              <a:t>(W</a:t>
            </a:r>
            <a:r>
              <a:rPr b="1" dirty="0">
                <a:latin typeface="Calibri"/>
                <a:cs typeface="Calibri"/>
              </a:rPr>
              <a:t>	*</a:t>
            </a:r>
            <a:r>
              <a:rPr b="1" spc="-15" dirty="0">
                <a:latin typeface="Calibri"/>
                <a:cs typeface="Calibri"/>
              </a:rPr>
              <a:t> </a:t>
            </a:r>
            <a:r>
              <a:rPr b="1" spc="-50" dirty="0">
                <a:latin typeface="Calibri"/>
                <a:cs typeface="Calibri"/>
              </a:rPr>
              <a:t>C</a:t>
            </a:r>
            <a:r>
              <a:rPr b="1" dirty="0">
                <a:latin typeface="Calibri"/>
                <a:cs typeface="Calibri"/>
              </a:rPr>
              <a:t>	</a:t>
            </a:r>
            <a:r>
              <a:rPr b="1" spc="-50" dirty="0">
                <a:latin typeface="Calibri"/>
                <a:cs typeface="Calibri"/>
              </a:rPr>
              <a:t>)</a:t>
            </a:r>
          </a:p>
          <a:p>
            <a:pPr marL="930910">
              <a:lnSpc>
                <a:spcPts val="830"/>
              </a:lnSpc>
              <a:tabLst>
                <a:tab pos="1540510" algn="l"/>
                <a:tab pos="2454910" algn="l"/>
                <a:tab pos="2940050" algn="l"/>
              </a:tabLst>
            </a:pPr>
            <a:r>
              <a:rPr sz="1000" b="1" spc="-20" dirty="0">
                <a:latin typeface="Calibri"/>
                <a:cs typeface="Calibri"/>
              </a:rPr>
              <a:t>hard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hard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soft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soft</a:t>
            </a:r>
            <a:endParaRPr sz="1000" dirty="0">
              <a:latin typeface="Calibri"/>
              <a:cs typeface="Calibri"/>
            </a:endParaRPr>
          </a:p>
          <a:p>
            <a:pPr marL="50800">
              <a:lnSpc>
                <a:spcPct val="100000"/>
              </a:lnSpc>
              <a:spcBef>
                <a:spcPts val="735"/>
              </a:spcBef>
            </a:pPr>
            <a:r>
              <a:rPr b="1" dirty="0">
                <a:latin typeface="Calibri"/>
                <a:cs typeface="Calibri"/>
              </a:rPr>
              <a:t>Hard</a:t>
            </a:r>
            <a:r>
              <a:rPr b="1" spc="-55" dirty="0">
                <a:latin typeface="Calibri"/>
                <a:cs typeface="Calibri"/>
              </a:rPr>
              <a:t> </a:t>
            </a:r>
            <a:r>
              <a:rPr b="1" spc="-10" dirty="0">
                <a:latin typeface="Calibri"/>
                <a:cs typeface="Calibri"/>
              </a:rPr>
              <a:t>Constraints</a:t>
            </a:r>
            <a:r>
              <a:rPr b="1" spc="-50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(W</a:t>
            </a:r>
            <a:r>
              <a:rPr sz="1500" b="1" baseline="-30555" dirty="0">
                <a:latin typeface="Calibri"/>
                <a:cs typeface="Calibri"/>
              </a:rPr>
              <a:t>hard</a:t>
            </a:r>
            <a:r>
              <a:rPr sz="1500" b="1" dirty="0">
                <a:latin typeface="Calibri"/>
                <a:cs typeface="Calibri"/>
              </a:rPr>
              <a:t>=</a:t>
            </a:r>
            <a:r>
              <a:rPr sz="1500" b="1" spc="-55" dirty="0">
                <a:latin typeface="Calibri"/>
                <a:cs typeface="Calibri"/>
              </a:rPr>
              <a:t> </a:t>
            </a:r>
            <a:r>
              <a:rPr sz="1500" b="1" spc="-10" dirty="0">
                <a:latin typeface="Calibri"/>
                <a:cs typeface="Calibri"/>
              </a:rPr>
              <a:t>1000):</a:t>
            </a:r>
            <a:endParaRPr sz="1500" dirty="0">
              <a:latin typeface="Calibri"/>
              <a:cs typeface="Calibri"/>
            </a:endParaRPr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US" b="1" dirty="0"/>
              <a:t> </a:t>
            </a:r>
            <a:r>
              <a:rPr lang="en-IN" b="1" spc="-10" dirty="0"/>
              <a:t>ELECTIVE RULES &amp; SYNCHRONIZATION </a:t>
            </a:r>
            <a:r>
              <a:rPr lang="en-US" b="1" dirty="0"/>
              <a:t>Exception</a:t>
            </a:r>
            <a:r>
              <a:rPr lang="en-US" dirty="0"/>
              <a:t>: </a:t>
            </a:r>
          </a:p>
          <a:p>
            <a:pPr marL="964565" lvl="1" indent="-335915">
              <a:buClr>
                <a:srgbClr val="E48312"/>
              </a:buClr>
              <a:buSzPct val="93333"/>
              <a:buFont typeface="Arial" panose="020B0604020202020204" pitchFamily="34" charset="0"/>
              <a:buChar char="•"/>
              <a:tabLst>
                <a:tab pos="507365" algn="l"/>
              </a:tabLst>
            </a:pPr>
            <a:r>
              <a:rPr lang="en-US" sz="1600" dirty="0"/>
              <a:t>Rule A (Sync): All sessions in a "Synced Basket" (e.g., HSMC,MDM) MUST be scheduled at the exact same (day, slot).    </a:t>
            </a:r>
          </a:p>
          <a:p>
            <a:pPr marL="964565" lvl="1" indent="-335915">
              <a:buClr>
                <a:srgbClr val="E48312"/>
              </a:buClr>
              <a:buSzPct val="93333"/>
              <a:buFont typeface="Arial" panose="020B0604020202020204" pitchFamily="34" charset="0"/>
              <a:buChar char="•"/>
              <a:tabLst>
                <a:tab pos="507365" algn="l"/>
              </a:tabLst>
            </a:pPr>
            <a:r>
              <a:rPr lang="en-US" sz="1600" dirty="0"/>
              <a:t> Rule B (Free): Electives in "Free Baskets" can be scheduled independently.  </a:t>
            </a:r>
          </a:p>
          <a:p>
            <a:pPr marL="964565" lvl="1" indent="-335915">
              <a:buClr>
                <a:srgbClr val="E48312"/>
              </a:buClr>
              <a:buSzPct val="93333"/>
              <a:buFont typeface="Arial" panose="020B0604020202020204" pitchFamily="34" charset="0"/>
              <a:buChar char="•"/>
              <a:tabLst>
                <a:tab pos="507365" algn="l"/>
              </a:tabLst>
            </a:pPr>
            <a:r>
              <a:rPr lang="en-US" sz="1600" dirty="0"/>
              <a:t>Rule C (Anti-Clash): Sessions from DIFFERENT baskets must never overlap, ensuring students can pick one from each without conflict</a:t>
            </a:r>
            <a:r>
              <a:rPr lang="en-US" dirty="0"/>
              <a:t>.</a:t>
            </a:r>
          </a:p>
          <a:p>
            <a:pPr marL="964565" lvl="1" indent="-335915">
              <a:buClr>
                <a:srgbClr val="E48312"/>
              </a:buClr>
              <a:buSzPct val="93333"/>
              <a:buFont typeface="Arial" panose="020B0604020202020204" pitchFamily="34" charset="0"/>
              <a:buChar char="•"/>
              <a:tabLst>
                <a:tab pos="507365" algn="l"/>
              </a:tabLst>
            </a:pPr>
            <a:endParaRPr lang="en-US" spc="-10" dirty="0"/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IN" b="1" spc="-10" dirty="0"/>
              <a:t>LAB ROOM FOR PRACTICALS </a:t>
            </a:r>
            <a:r>
              <a:rPr b="1" dirty="0">
                <a:latin typeface="Calibri"/>
                <a:cs typeface="Calibri"/>
              </a:rPr>
              <a:t>:</a:t>
            </a:r>
            <a:r>
              <a:rPr b="1" spc="-30" dirty="0">
                <a:latin typeface="Calibri"/>
                <a:cs typeface="Calibri"/>
              </a:rPr>
              <a:t> </a:t>
            </a:r>
            <a:r>
              <a:rPr lang="en-US" dirty="0"/>
              <a:t>Practical sessions MUST be assigned to rooms with  </a:t>
            </a:r>
            <a:r>
              <a:rPr lang="en-US" dirty="0" err="1"/>
              <a:t>room_type</a:t>
            </a:r>
            <a:r>
              <a:rPr lang="en-US" dirty="0"/>
              <a:t> 'Lab'. </a:t>
            </a:r>
            <a:endParaRPr spc="-10" dirty="0"/>
          </a:p>
        </p:txBody>
      </p:sp>
    </p:spTree>
    <p:extLst>
      <p:ext uri="{BB962C8B-B14F-4D97-AF65-F5344CB8AC3E}">
        <p14:creationId xmlns:p14="http://schemas.microsoft.com/office/powerpoint/2010/main" val="1602028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B06D7-DA3D-5CA1-603C-6DE7B3F9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20F05E7-4BA0-BD33-7273-2555DB5731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Formulation</a:t>
            </a:r>
            <a:r>
              <a:rPr spc="-80" dirty="0"/>
              <a:t> </a:t>
            </a:r>
            <a:r>
              <a:rPr dirty="0"/>
              <a:t>of</a:t>
            </a:r>
            <a:r>
              <a:rPr spc="-70" dirty="0"/>
              <a:t> </a:t>
            </a:r>
            <a:r>
              <a:rPr dirty="0"/>
              <a:t>Hard</a:t>
            </a:r>
            <a:r>
              <a:rPr spc="-70" dirty="0"/>
              <a:t> </a:t>
            </a:r>
            <a:r>
              <a:rPr spc="-10" dirty="0"/>
              <a:t>Constraints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E060FE0-8936-EA57-8B98-BC1FA29343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1352550"/>
            <a:ext cx="7520305" cy="27058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30" dirty="0"/>
              <a:t> </a:t>
            </a:r>
            <a:r>
              <a:rPr dirty="0"/>
              <a:t>solver</a:t>
            </a:r>
            <a:r>
              <a:rPr spc="-30" dirty="0"/>
              <a:t> </a:t>
            </a:r>
            <a:r>
              <a:rPr spc="-10" dirty="0"/>
              <a:t>evaluates</a:t>
            </a:r>
            <a:r>
              <a:rPr spc="-30" dirty="0"/>
              <a:t> </a:t>
            </a:r>
            <a:r>
              <a:rPr dirty="0"/>
              <a:t>fitness</a:t>
            </a:r>
            <a:r>
              <a:rPr spc="-30" dirty="0"/>
              <a:t> </a:t>
            </a:r>
            <a:r>
              <a:rPr dirty="0"/>
              <a:t>using</a:t>
            </a:r>
            <a:r>
              <a:rPr spc="-30" dirty="0"/>
              <a:t> </a:t>
            </a:r>
            <a:r>
              <a:rPr dirty="0"/>
              <a:t>a</a:t>
            </a:r>
            <a:r>
              <a:rPr spc="-30" dirty="0"/>
              <a:t> </a:t>
            </a:r>
            <a:r>
              <a:rPr spc="-10" dirty="0"/>
              <a:t>scalarized</a:t>
            </a:r>
            <a:r>
              <a:rPr spc="-30" dirty="0"/>
              <a:t> </a:t>
            </a:r>
            <a:r>
              <a:rPr dirty="0"/>
              <a:t>penalty</a:t>
            </a:r>
            <a:r>
              <a:rPr spc="-30" dirty="0"/>
              <a:t> </a:t>
            </a:r>
            <a:r>
              <a:rPr spc="-10" dirty="0"/>
              <a:t>function:</a:t>
            </a:r>
          </a:p>
          <a:p>
            <a:pPr marL="50800">
              <a:lnSpc>
                <a:spcPts val="1430"/>
              </a:lnSpc>
              <a:spcBef>
                <a:spcPts val="1200"/>
              </a:spcBef>
              <a:tabLst>
                <a:tab pos="1258570" algn="l"/>
                <a:tab pos="1782445" algn="l"/>
                <a:tab pos="2701290" algn="l"/>
                <a:tab pos="3143250" algn="l"/>
              </a:tabLst>
            </a:pPr>
            <a:r>
              <a:rPr b="1" dirty="0">
                <a:latin typeface="Calibri"/>
                <a:cs typeface="Calibri"/>
              </a:rPr>
              <a:t>P(S)</a:t>
            </a:r>
            <a:r>
              <a:rPr b="1" spc="-15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=</a:t>
            </a:r>
            <a:r>
              <a:rPr b="1" spc="-5" dirty="0">
                <a:latin typeface="Calibri"/>
                <a:cs typeface="Calibri"/>
              </a:rPr>
              <a:t> </a:t>
            </a:r>
            <a:r>
              <a:rPr b="1" dirty="0">
                <a:latin typeface="Arial"/>
                <a:cs typeface="Arial"/>
              </a:rPr>
              <a:t>Σ</a:t>
            </a:r>
            <a:r>
              <a:rPr b="1" spc="-90" dirty="0">
                <a:latin typeface="Arial"/>
                <a:cs typeface="Arial"/>
              </a:rPr>
              <a:t> </a:t>
            </a:r>
            <a:r>
              <a:rPr b="1" spc="-25" dirty="0">
                <a:latin typeface="Calibri"/>
                <a:cs typeface="Calibri"/>
              </a:rPr>
              <a:t>(W</a:t>
            </a:r>
            <a:r>
              <a:rPr b="1" dirty="0">
                <a:latin typeface="Calibri"/>
                <a:cs typeface="Calibri"/>
              </a:rPr>
              <a:t>	*</a:t>
            </a:r>
            <a:r>
              <a:rPr b="1" spc="320" dirty="0">
                <a:latin typeface="Calibri"/>
                <a:cs typeface="Calibri"/>
              </a:rPr>
              <a:t> </a:t>
            </a:r>
            <a:r>
              <a:rPr b="1" spc="-50" dirty="0">
                <a:latin typeface="Calibri"/>
                <a:cs typeface="Calibri"/>
              </a:rPr>
              <a:t>C</a:t>
            </a:r>
            <a:r>
              <a:rPr b="1" dirty="0">
                <a:latin typeface="Calibri"/>
                <a:cs typeface="Calibri"/>
              </a:rPr>
              <a:t>	)</a:t>
            </a:r>
            <a:r>
              <a:rPr b="1" spc="-10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+ </a:t>
            </a:r>
            <a:r>
              <a:rPr b="1" dirty="0">
                <a:latin typeface="Arial"/>
                <a:cs typeface="Arial"/>
              </a:rPr>
              <a:t>Σ</a:t>
            </a:r>
            <a:r>
              <a:rPr b="1" spc="250" dirty="0">
                <a:latin typeface="Arial"/>
                <a:cs typeface="Arial"/>
              </a:rPr>
              <a:t> </a:t>
            </a:r>
            <a:r>
              <a:rPr b="1" spc="-25" dirty="0">
                <a:latin typeface="Calibri"/>
                <a:cs typeface="Calibri"/>
              </a:rPr>
              <a:t>(W</a:t>
            </a:r>
            <a:r>
              <a:rPr b="1" dirty="0">
                <a:latin typeface="Calibri"/>
                <a:cs typeface="Calibri"/>
              </a:rPr>
              <a:t>	*</a:t>
            </a:r>
            <a:r>
              <a:rPr b="1" spc="-15" dirty="0">
                <a:latin typeface="Calibri"/>
                <a:cs typeface="Calibri"/>
              </a:rPr>
              <a:t> </a:t>
            </a:r>
            <a:r>
              <a:rPr b="1" spc="-50" dirty="0">
                <a:latin typeface="Calibri"/>
                <a:cs typeface="Calibri"/>
              </a:rPr>
              <a:t>C</a:t>
            </a:r>
            <a:r>
              <a:rPr b="1" dirty="0">
                <a:latin typeface="Calibri"/>
                <a:cs typeface="Calibri"/>
              </a:rPr>
              <a:t>	</a:t>
            </a:r>
            <a:r>
              <a:rPr b="1" spc="-50" dirty="0">
                <a:latin typeface="Calibri"/>
                <a:cs typeface="Calibri"/>
              </a:rPr>
              <a:t>)</a:t>
            </a:r>
          </a:p>
          <a:p>
            <a:pPr marL="930910">
              <a:lnSpc>
                <a:spcPts val="830"/>
              </a:lnSpc>
              <a:tabLst>
                <a:tab pos="1540510" algn="l"/>
                <a:tab pos="2454910" algn="l"/>
                <a:tab pos="2940050" algn="l"/>
              </a:tabLst>
            </a:pPr>
            <a:r>
              <a:rPr sz="1000" b="1" spc="-20" dirty="0">
                <a:latin typeface="Calibri"/>
                <a:cs typeface="Calibri"/>
              </a:rPr>
              <a:t>hard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hard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soft</a:t>
            </a:r>
            <a:r>
              <a:rPr sz="1000" b="1" dirty="0">
                <a:latin typeface="Calibri"/>
                <a:cs typeface="Calibri"/>
              </a:rPr>
              <a:t>	</a:t>
            </a:r>
            <a:r>
              <a:rPr sz="1000" b="1" spc="-20" dirty="0">
                <a:latin typeface="Calibri"/>
                <a:cs typeface="Calibri"/>
              </a:rPr>
              <a:t>soft</a:t>
            </a:r>
            <a:endParaRPr sz="1000" dirty="0">
              <a:latin typeface="Calibri"/>
              <a:cs typeface="Calibri"/>
            </a:endParaRPr>
          </a:p>
          <a:p>
            <a:pPr marL="50800">
              <a:lnSpc>
                <a:spcPct val="100000"/>
              </a:lnSpc>
              <a:spcBef>
                <a:spcPts val="735"/>
              </a:spcBef>
            </a:pPr>
            <a:r>
              <a:rPr b="1" dirty="0">
                <a:latin typeface="Calibri"/>
                <a:cs typeface="Calibri"/>
              </a:rPr>
              <a:t>Hard</a:t>
            </a:r>
            <a:r>
              <a:rPr b="1" spc="-55" dirty="0">
                <a:latin typeface="Calibri"/>
                <a:cs typeface="Calibri"/>
              </a:rPr>
              <a:t> </a:t>
            </a:r>
            <a:r>
              <a:rPr b="1" spc="-10" dirty="0">
                <a:latin typeface="Calibri"/>
                <a:cs typeface="Calibri"/>
              </a:rPr>
              <a:t>Constraints</a:t>
            </a:r>
            <a:r>
              <a:rPr b="1" spc="-50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(W</a:t>
            </a:r>
            <a:r>
              <a:rPr sz="1500" b="1" baseline="-30555" dirty="0">
                <a:latin typeface="Calibri"/>
                <a:cs typeface="Calibri"/>
              </a:rPr>
              <a:t>hard</a:t>
            </a:r>
            <a:r>
              <a:rPr sz="1500" b="1" dirty="0">
                <a:latin typeface="Calibri"/>
                <a:cs typeface="Calibri"/>
              </a:rPr>
              <a:t>=</a:t>
            </a:r>
            <a:r>
              <a:rPr sz="1500" b="1" spc="-55" dirty="0">
                <a:latin typeface="Calibri"/>
                <a:cs typeface="Calibri"/>
              </a:rPr>
              <a:t> </a:t>
            </a:r>
            <a:r>
              <a:rPr sz="1500" b="1" spc="-10" dirty="0">
                <a:latin typeface="Calibri"/>
                <a:cs typeface="Calibri"/>
              </a:rPr>
              <a:t>1000):</a:t>
            </a:r>
            <a:endParaRPr lang="en-IN" sz="1500" b="1" spc="-10" dirty="0">
              <a:latin typeface="Calibri"/>
              <a:cs typeface="Calibri"/>
            </a:endParaRPr>
          </a:p>
          <a:p>
            <a:pPr marL="50800">
              <a:lnSpc>
                <a:spcPct val="100000"/>
              </a:lnSpc>
              <a:spcBef>
                <a:spcPts val="735"/>
              </a:spcBef>
            </a:pPr>
            <a:endParaRPr sz="1500" dirty="0">
              <a:latin typeface="Calibri"/>
              <a:cs typeface="Calibri"/>
            </a:endParaRPr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US" b="1" dirty="0"/>
              <a:t> </a:t>
            </a:r>
            <a:r>
              <a:rPr lang="en-US" b="1" spc="-10" dirty="0"/>
              <a:t>WMC VS SECTION </a:t>
            </a:r>
            <a:r>
              <a:rPr lang="en-US" dirty="0"/>
              <a:t>: If a WMC session is scheduled, no individual sub-section belonging to that batch can have a separate core class at that time.</a:t>
            </a:r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endParaRPr lang="en-US" dirty="0"/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IN" b="1" spc="-10" dirty="0"/>
              <a:t>2+1 LECTURE FORMAT </a:t>
            </a:r>
            <a:r>
              <a:rPr b="1" dirty="0">
                <a:latin typeface="Calibri"/>
                <a:cs typeface="Calibri"/>
              </a:rPr>
              <a:t>:</a:t>
            </a:r>
            <a:r>
              <a:rPr b="1" spc="-30" dirty="0">
                <a:latin typeface="Calibri"/>
                <a:cs typeface="Calibri"/>
              </a:rPr>
              <a:t> </a:t>
            </a:r>
            <a:r>
              <a:rPr lang="en-US" dirty="0"/>
              <a:t>For subjects with lectures &gt;= 2, the lecture hours are split into:</a:t>
            </a:r>
          </a:p>
          <a:p>
            <a:pPr marL="171450">
              <a:lnSpc>
                <a:spcPct val="100000"/>
              </a:lnSpc>
              <a:buClr>
                <a:srgbClr val="E48312"/>
              </a:buClr>
              <a:buSzPct val="93333"/>
              <a:tabLst>
                <a:tab pos="507365" algn="l"/>
              </a:tabLst>
            </a:pPr>
            <a:r>
              <a:rPr lang="en-US" spc="-10" dirty="0"/>
              <a:t>	 • Exactly ONE 2-hour double-lecture block (</a:t>
            </a:r>
            <a:r>
              <a:rPr lang="en-US" spc="-10" dirty="0" err="1"/>
              <a:t>lecturePairIndex</a:t>
            </a:r>
            <a:r>
              <a:rPr lang="en-US" spc="-10" dirty="0"/>
              <a:t> = 0)                 			 • All remaining hours as individual 1-hour sessions (</a:t>
            </a:r>
            <a:r>
              <a:rPr lang="en-US" spc="-10" dirty="0" err="1"/>
              <a:t>lecturePairIndex</a:t>
            </a:r>
            <a:r>
              <a:rPr lang="en-US" spc="-10" dirty="0"/>
              <a:t> = -1)</a:t>
            </a:r>
            <a:endParaRPr spc="-10" dirty="0"/>
          </a:p>
        </p:txBody>
      </p:sp>
    </p:spTree>
    <p:extLst>
      <p:ext uri="{BB962C8B-B14F-4D97-AF65-F5344CB8AC3E}">
        <p14:creationId xmlns:p14="http://schemas.microsoft.com/office/powerpoint/2010/main" val="1778613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93F93-02B7-18F6-561E-277C71987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9D5BFBA-BF2F-0338-31E1-74BD306833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pc="-70" dirty="0"/>
              <a:t>Soft</a:t>
            </a:r>
            <a:r>
              <a:rPr spc="-70" dirty="0"/>
              <a:t> </a:t>
            </a:r>
            <a:r>
              <a:rPr spc="-10" dirty="0"/>
              <a:t>Constraints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FE4F66C-7ECA-38B6-B884-19A97424DB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1428750"/>
            <a:ext cx="7520305" cy="24109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spcBef>
                <a:spcPts val="735"/>
              </a:spcBef>
            </a:pPr>
            <a:r>
              <a:rPr lang="en-IN" dirty="0"/>
              <a:t>Soft</a:t>
            </a:r>
            <a:r>
              <a:rPr lang="en-IN" spc="-20" dirty="0"/>
              <a:t> </a:t>
            </a:r>
            <a:r>
              <a:rPr lang="en-IN" spc="-10" dirty="0"/>
              <a:t>Constraints</a:t>
            </a:r>
            <a:r>
              <a:rPr lang="en-IN" spc="-20" dirty="0"/>
              <a:t> </a:t>
            </a:r>
            <a:r>
              <a:rPr lang="en-IN" spc="-25" dirty="0"/>
              <a:t>:</a:t>
            </a:r>
          </a:p>
          <a:p>
            <a:pPr marL="50800">
              <a:spcBef>
                <a:spcPts val="735"/>
              </a:spcBef>
            </a:pPr>
            <a:endParaRPr sz="1500" dirty="0">
              <a:latin typeface="Calibri"/>
              <a:cs typeface="Calibri"/>
            </a:endParaRPr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US" b="1" dirty="0"/>
              <a:t> </a:t>
            </a:r>
            <a:r>
              <a:rPr lang="en-US" b="1" spc="-10" dirty="0"/>
              <a:t>STUDENT GAP PENALTY (COMPRESSION)(W=1.0): </a:t>
            </a:r>
            <a:r>
              <a:rPr lang="en-US" dirty="0"/>
              <a:t>Minimizes empty "free" slots between a student groups first and last class of the day to compress their schedule.</a:t>
            </a:r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endParaRPr lang="en-US" dirty="0"/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IN" b="1" spc="-10" dirty="0"/>
              <a:t>ROOM UTILIZATION PENALTY (W=0.8) : </a:t>
            </a:r>
            <a:r>
              <a:rPr lang="en-US" dirty="0"/>
              <a:t>Encourages efficient use of space. Penalties apply if room fill ratio is &lt; 60% (under-util) or &gt; 120% (over-util).</a:t>
            </a:r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endParaRPr lang="en-US" dirty="0"/>
          </a:p>
          <a:p>
            <a:pPr marL="507365" indent="-335915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507365" algn="l"/>
              </a:tabLst>
            </a:pPr>
            <a:r>
              <a:rPr lang="en-IN" b="1" spc="-10" dirty="0"/>
              <a:t>PROFESSOR SAME-HALF PENALTY (W=5.0) :</a:t>
            </a:r>
            <a:r>
              <a:rPr lang="en-IN" spc="-10" dirty="0"/>
              <a:t> Enco</a:t>
            </a:r>
            <a:r>
              <a:rPr lang="en-US" spc="-10" dirty="0" err="1"/>
              <a:t>urages</a:t>
            </a:r>
            <a:r>
              <a:rPr lang="en-US" spc="-10" dirty="0"/>
              <a:t> compact faculty schedules. A penalty is added if a professor teaches in both Morning (1-4) and Afternoon (5-8) halves.</a:t>
            </a:r>
            <a:endParaRPr spc="-10" dirty="0"/>
          </a:p>
        </p:txBody>
      </p:sp>
    </p:spTree>
    <p:extLst>
      <p:ext uri="{BB962C8B-B14F-4D97-AF65-F5344CB8AC3E}">
        <p14:creationId xmlns:p14="http://schemas.microsoft.com/office/powerpoint/2010/main" val="2216448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40400" y="209550"/>
            <a:ext cx="577278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IN" b="1" dirty="0"/>
              <a:t>Problem Representation(Chromosome)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34050" y="1258998"/>
            <a:ext cx="7432040" cy="11028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00"/>
              </a:spcBef>
            </a:pPr>
            <a:endParaRPr lang="en-US" sz="1400" dirty="0"/>
          </a:p>
          <a:p>
            <a:pPr marL="88900">
              <a:lnSpc>
                <a:spcPct val="100000"/>
              </a:lnSpc>
              <a:spcBef>
                <a:spcPts val="100"/>
              </a:spcBef>
            </a:pPr>
            <a:r>
              <a:rPr lang="en-US" sz="1400" dirty="0"/>
              <a:t>The solver models a complete timetable as a </a:t>
            </a:r>
            <a:r>
              <a:rPr lang="en-US" sz="1400" b="1" dirty="0"/>
              <a:t>Solution</a:t>
            </a:r>
            <a:r>
              <a:rPr lang="en-US" sz="1400" dirty="0"/>
              <a:t> — an ordered array of </a:t>
            </a:r>
            <a:r>
              <a:rPr lang="en-US" sz="1400" b="1" dirty="0"/>
              <a:t>Gene</a:t>
            </a:r>
            <a:r>
              <a:rPr lang="en-US" sz="1400" dirty="0"/>
              <a:t> objects.</a:t>
            </a:r>
          </a:p>
          <a:p>
            <a:r>
              <a:rPr lang="en-US" sz="1400" b="1" dirty="0"/>
              <a:t>  Each Gene encodes one scheduling decision:</a:t>
            </a:r>
          </a:p>
          <a:p>
            <a:endParaRPr lang="en-US" sz="1400" b="1" dirty="0"/>
          </a:p>
          <a:p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9A3353-3C66-EDCE-6B26-567E0363A1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1885950"/>
            <a:ext cx="3581400" cy="2133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DAC512-D13B-C111-AEDE-19FB95F7AF4C}"/>
              </a:ext>
            </a:extLst>
          </p:cNvPr>
          <p:cNvSpPr txBox="1"/>
          <p:nvPr/>
        </p:nvSpPr>
        <p:spPr>
          <a:xfrm>
            <a:off x="734050" y="3905162"/>
            <a:ext cx="65532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Each Gene is paired with immutable </a:t>
            </a:r>
            <a:r>
              <a:rPr lang="en-US" sz="1200" b="1" dirty="0" err="1"/>
              <a:t>ClassSession</a:t>
            </a:r>
            <a:r>
              <a:rPr lang="en-US" sz="1200" b="1" dirty="0"/>
              <a:t> metadata:</a:t>
            </a:r>
            <a:endParaRPr lang="en-US" sz="1200" dirty="0"/>
          </a:p>
          <a:p>
            <a:r>
              <a:rPr lang="en-US" sz="1200" dirty="0"/>
              <a:t>Subject ID, Student Group, Professor</a:t>
            </a:r>
          </a:p>
          <a:p>
            <a:r>
              <a:rPr lang="en-US" sz="1200" dirty="0"/>
              <a:t>Duration, Slot Type (Lecture / Tutorial / Practical)</a:t>
            </a:r>
          </a:p>
          <a:p>
            <a:r>
              <a:rPr lang="en-US" sz="1200" dirty="0"/>
              <a:t>Home Room Index, Elective Basket, Locked flag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30D9-F0BD-9CA6-C22C-68E9E7D92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0D07C07-5614-B3F9-E00C-EBDD22ED5C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3465" y="231730"/>
            <a:ext cx="577278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IN" b="1" dirty="0"/>
              <a:t>The (1+1)-ES Algorithm—Mutation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A54FA44-AB5A-7289-5421-5DC83255646A}"/>
              </a:ext>
            </a:extLst>
          </p:cNvPr>
          <p:cNvSpPr txBox="1"/>
          <p:nvPr/>
        </p:nvSpPr>
        <p:spPr>
          <a:xfrm>
            <a:off x="762000" y="1352550"/>
            <a:ext cx="7432040" cy="3367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1600" dirty="0"/>
              <a:t>In each generation, the solver selects </a:t>
            </a:r>
            <a:r>
              <a:rPr lang="en-US" sz="1600" b="1" dirty="0"/>
              <a:t>3–8% of mutable sessions</a:t>
            </a:r>
            <a:r>
              <a:rPr lang="en-US" sz="1600" dirty="0"/>
              <a:t> and applies one mutation operator governed by the variance parameter σ.</a:t>
            </a:r>
          </a:p>
          <a:p>
            <a:r>
              <a:rPr lang="en-US" b="1" dirty="0"/>
              <a:t>Mutators Used:</a:t>
            </a:r>
            <a:endParaRPr lang="en-US" dirty="0"/>
          </a:p>
          <a:p>
            <a:r>
              <a:rPr lang="en-US" dirty="0"/>
              <a:t>1. </a:t>
            </a:r>
            <a:r>
              <a:rPr lang="en-US" b="1" dirty="0"/>
              <a:t>Mutate Day:</a:t>
            </a:r>
            <a:r>
              <a:rPr lang="en-US" dirty="0"/>
              <a:t> </a:t>
            </a:r>
            <a:r>
              <a:rPr lang="en-US" sz="1600" dirty="0"/>
              <a:t>Randomly reassigns the session to a new day ∈ {1, ..., 5}. </a:t>
            </a:r>
          </a:p>
          <a:p>
            <a:r>
              <a:rPr lang="en-US" dirty="0"/>
              <a:t>2. </a:t>
            </a:r>
            <a:r>
              <a:rPr lang="en-US" b="1" dirty="0"/>
              <a:t>Mutate Time (Gaussian):</a:t>
            </a:r>
            <a:r>
              <a:rPr lang="en-US" dirty="0"/>
              <a:t> </a:t>
            </a:r>
            <a:r>
              <a:rPr lang="en-US" sz="1600" dirty="0"/>
              <a:t>Shifts the starting slot by</a:t>
            </a:r>
            <a:br>
              <a:rPr lang="en-US" sz="1600" dirty="0"/>
            </a:br>
            <a:r>
              <a:rPr lang="en-US" sz="1600" dirty="0"/>
              <a:t>Δ = ⌊𝒩(0, σ²)⌉ while ensuring valid timetable bounds. Breaks are adjusted using a precomputed valid-slot list. </a:t>
            </a:r>
          </a:p>
          <a:p>
            <a:r>
              <a:rPr lang="en-US" dirty="0"/>
              <a:t>3. </a:t>
            </a:r>
            <a:r>
              <a:rPr lang="en-US" b="1" dirty="0"/>
              <a:t>Mutate Room (Type-Sensitive):</a:t>
            </a:r>
            <a:r>
              <a:rPr lang="en-US" dirty="0"/>
              <a:t> </a:t>
            </a:r>
          </a:p>
          <a:p>
            <a:pPr lvl="1"/>
            <a:r>
              <a:rPr lang="en-US" sz="1600" dirty="0" err="1"/>
              <a:t>Practicals</a:t>
            </a:r>
            <a:r>
              <a:rPr lang="en-US" sz="1600" dirty="0"/>
              <a:t> → Random Lab Room </a:t>
            </a:r>
          </a:p>
          <a:p>
            <a:pPr lvl="1"/>
            <a:r>
              <a:rPr lang="en-US" sz="1600" dirty="0"/>
              <a:t>Electives → Random Lecture Room </a:t>
            </a:r>
          </a:p>
          <a:p>
            <a:pPr lvl="1"/>
            <a:r>
              <a:rPr lang="en-US" sz="1600" dirty="0"/>
              <a:t>Core Sessions → Fixed Home Room (No Mutation) </a:t>
            </a:r>
          </a:p>
          <a:p>
            <a:r>
              <a:rPr lang="en-US" dirty="0"/>
              <a:t>4. </a:t>
            </a:r>
            <a:r>
              <a:rPr lang="en-US" b="1" dirty="0"/>
              <a:t>Relocate (Global Move):</a:t>
            </a:r>
            <a:r>
              <a:rPr lang="en-US" dirty="0"/>
              <a:t> </a:t>
            </a:r>
            <a:r>
              <a:rPr lang="en-US" sz="1600" dirty="0"/>
              <a:t>Randomly reassigns the entire (Day, Time, Room) configuration. </a:t>
            </a:r>
          </a:p>
        </p:txBody>
      </p:sp>
    </p:spTree>
    <p:extLst>
      <p:ext uri="{BB962C8B-B14F-4D97-AF65-F5344CB8AC3E}">
        <p14:creationId xmlns:p14="http://schemas.microsoft.com/office/powerpoint/2010/main" val="674416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E8AE1-D64C-95EE-F223-3B2A62E3D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A8B4AD1-A245-B92B-C404-9265AB524F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590550"/>
            <a:ext cx="57727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IN" b="1" dirty="0"/>
              <a:t>Selection &amp; </a:t>
            </a:r>
            <a:r>
              <a:rPr lang="el-GR" b="1" dirty="0"/>
              <a:t>σ-</a:t>
            </a:r>
            <a:r>
              <a:rPr lang="en-IN" b="1" dirty="0"/>
              <a:t>Adaptation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4F54336-D5C6-9A6E-3CB7-CEED5EB68E50}"/>
              </a:ext>
            </a:extLst>
          </p:cNvPr>
          <p:cNvSpPr txBox="1"/>
          <p:nvPr/>
        </p:nvSpPr>
        <p:spPr>
          <a:xfrm>
            <a:off x="762000" y="1352550"/>
            <a:ext cx="7432040" cy="29674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1600" dirty="0"/>
              <a:t>5. </a:t>
            </a:r>
            <a:r>
              <a:rPr lang="en-US" sz="1600" b="1" dirty="0"/>
              <a:t>Swap:</a:t>
            </a:r>
            <a:r>
              <a:rPr lang="en-US" sz="1600" dirty="0"/>
              <a:t> Exchanges (Day, Time, Room) between sessions of equal duration.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/>
              <a:t>Elitist Selection</a:t>
            </a:r>
            <a:endParaRPr lang="en-US" sz="1600" dirty="0"/>
          </a:p>
          <a:p>
            <a:r>
              <a:rPr lang="en-US" sz="1600" dirty="0"/>
              <a:t>The Child replaces the Parent </a:t>
            </a:r>
            <a:r>
              <a:rPr lang="en-US" sz="1600" b="1" dirty="0"/>
              <a:t>only if</a:t>
            </a:r>
            <a:r>
              <a:rPr lang="en-US" sz="1600" dirty="0"/>
              <a:t> f(</a:t>
            </a:r>
            <a:r>
              <a:rPr lang="en-US" sz="1600" dirty="0" err="1"/>
              <a:t>S_child</a:t>
            </a:r>
            <a:r>
              <a:rPr lang="en-US" sz="1600" dirty="0"/>
              <a:t>) ≤ f(</a:t>
            </a:r>
            <a:r>
              <a:rPr lang="en-US" sz="1600" dirty="0" err="1"/>
              <a:t>S_parent</a:t>
            </a:r>
            <a:r>
              <a:rPr lang="en-US" sz="1600" dirty="0"/>
              <a:t>).</a:t>
            </a:r>
          </a:p>
          <a:p>
            <a:r>
              <a:rPr lang="en-US" sz="1600" dirty="0"/>
              <a:t>This greedy elitism protects hard constraints; the solver never accepts a worse solution.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/>
              <a:t>σ-Adaptation (Rechenberg's 1/5th Rule)</a:t>
            </a:r>
            <a:endParaRPr lang="en-US" sz="1600" dirty="0"/>
          </a:p>
          <a:p>
            <a:r>
              <a:rPr lang="en-US" sz="1600" dirty="0"/>
              <a:t>Checked every </a:t>
            </a:r>
            <a:r>
              <a:rPr lang="en-US" sz="1600" b="1" dirty="0"/>
              <a:t>W = 50</a:t>
            </a:r>
            <a:r>
              <a:rPr lang="en-US" sz="1600" dirty="0"/>
              <a:t> generations. Let </a:t>
            </a:r>
            <a:r>
              <a:rPr lang="en-US" sz="1600" dirty="0" err="1"/>
              <a:t>p_s</a:t>
            </a:r>
            <a:r>
              <a:rPr lang="en-US" sz="1600" dirty="0"/>
              <a:t> = success rate (rate of no of times child won over parent):</a:t>
            </a:r>
          </a:p>
          <a:p>
            <a:r>
              <a:rPr lang="en-US" sz="1600" dirty="0"/>
              <a:t>σ ← {σ × 1.22 if pₛ &gt; 20% (Explore More)</a:t>
            </a:r>
            <a:br>
              <a:rPr lang="en-US" sz="1600" dirty="0"/>
            </a:br>
            <a:r>
              <a:rPr lang="en-US" sz="1600" dirty="0"/>
              <a:t>      σ × 0.82       if pₛ &lt; 20% (Fine-Tune)</a:t>
            </a:r>
            <a:br>
              <a:rPr lang="en-US" sz="1600" dirty="0"/>
            </a:br>
            <a:r>
              <a:rPr lang="en-US" sz="1600" dirty="0"/>
              <a:t>         σ                                         otherwise</a:t>
            </a:r>
            <a:br>
              <a:rPr lang="en-US" sz="1600" dirty="0"/>
            </a:br>
            <a:r>
              <a:rPr lang="en-US" sz="1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01223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A6664-2DAE-B16A-DE57-663F8F62E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58FE568-DF01-8368-92F1-B7FF193D2B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590550"/>
            <a:ext cx="57727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IN" b="1" dirty="0"/>
              <a:t>Stagnation Recovery 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6F65AA2-2B18-27D0-58D2-C800786B3FAC}"/>
              </a:ext>
            </a:extLst>
          </p:cNvPr>
          <p:cNvSpPr txBox="1"/>
          <p:nvPr/>
        </p:nvSpPr>
        <p:spPr>
          <a:xfrm>
            <a:off x="762000" y="1352550"/>
            <a:ext cx="7432040" cy="25673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1600" b="1" dirty="0"/>
              <a:t>Intuition:</a:t>
            </a:r>
            <a:endParaRPr lang="en-US" sz="1600" dirty="0"/>
          </a:p>
          <a:p>
            <a:r>
              <a:rPr lang="en-US" sz="1600" dirty="0"/>
              <a:t>Too many successes → σ is too small → increase it to explore wider</a:t>
            </a:r>
          </a:p>
          <a:p>
            <a:r>
              <a:rPr lang="en-US" sz="1600" dirty="0"/>
              <a:t>Too few successes → σ is too large → decrease it to refine locally</a:t>
            </a:r>
          </a:p>
          <a:p>
            <a:r>
              <a:rPr lang="en-US" b="1" dirty="0"/>
              <a:t>Stagnation Recovery:</a:t>
            </a:r>
            <a:endParaRPr lang="en-US" dirty="0"/>
          </a:p>
          <a:p>
            <a:pPr marL="285750" lvl="2" indent="-285750">
              <a:buFont typeface="Wingdings" panose="05000000000000000000" pitchFamily="2" charset="2"/>
              <a:buChar char="q"/>
            </a:pPr>
            <a:r>
              <a:rPr lang="en-US" sz="1600" dirty="0"/>
              <a:t>If best fitness doesn't improve for </a:t>
            </a:r>
            <a:r>
              <a:rPr lang="en-US" sz="1600" b="1" dirty="0"/>
              <a:t>15,000+ consecutive </a:t>
            </a:r>
            <a:r>
              <a:rPr lang="en-US" b="1" dirty="0"/>
              <a:t>generations</a:t>
            </a:r>
            <a:r>
              <a:rPr lang="en-US" dirty="0"/>
              <a:t> (stuck at </a:t>
            </a:r>
            <a:r>
              <a:rPr lang="en-US" sz="1600" dirty="0"/>
              <a:t>local optimum):</a:t>
            </a:r>
          </a:p>
          <a:p>
            <a:pPr marL="285750" lvl="8" indent="-285750">
              <a:buFont typeface="Wingdings" panose="05000000000000000000" pitchFamily="2" charset="2"/>
              <a:buChar char="q"/>
            </a:pPr>
            <a:r>
              <a:rPr lang="en-US" sz="1600" dirty="0"/>
              <a:t>Current solution is </a:t>
            </a:r>
            <a:r>
              <a:rPr lang="en-US" sz="1600" b="1" dirty="0"/>
              <a:t>discarded</a:t>
            </a:r>
            <a:endParaRPr lang="en-US" sz="1600" dirty="0"/>
          </a:p>
          <a:p>
            <a:pPr marL="285750" lvl="8" indent="-285750">
              <a:buFont typeface="Wingdings" panose="05000000000000000000" pitchFamily="2" charset="2"/>
              <a:buChar char="q"/>
            </a:pPr>
            <a:r>
              <a:rPr lang="en-US" sz="1600" dirty="0"/>
              <a:t>A completely new random initial solution is generated</a:t>
            </a:r>
          </a:p>
          <a:p>
            <a:pPr marL="285750" lvl="8" indent="-285750">
              <a:buFont typeface="Wingdings" panose="05000000000000000000" pitchFamily="2" charset="2"/>
              <a:buChar char="q"/>
            </a:pPr>
            <a:r>
              <a:rPr lang="en-US" sz="1600" dirty="0"/>
              <a:t>σ is </a:t>
            </a:r>
            <a:r>
              <a:rPr lang="en-US" sz="1600" b="1" dirty="0"/>
              <a:t>reset</a:t>
            </a:r>
            <a:r>
              <a:rPr lang="en-US" sz="1600" dirty="0"/>
              <a:t> to the initial value</a:t>
            </a:r>
          </a:p>
          <a:p>
            <a:pPr marL="285750" lvl="8" indent="-285750">
              <a:buFont typeface="Wingdings" panose="05000000000000000000" pitchFamily="2" charset="2"/>
              <a:buChar char="q"/>
            </a:pPr>
            <a:r>
              <a:rPr lang="en-US" sz="1600" dirty="0"/>
              <a:t>The </a:t>
            </a:r>
            <a:r>
              <a:rPr lang="en-US" sz="1600" b="1" dirty="0"/>
              <a:t>global best</a:t>
            </a:r>
            <a:r>
              <a:rPr lang="en-US" sz="1600" dirty="0"/>
              <a:t> solution is kept safe in memory (elitist tracking)</a:t>
            </a:r>
          </a:p>
        </p:txBody>
      </p:sp>
    </p:spTree>
    <p:extLst>
      <p:ext uri="{BB962C8B-B14F-4D97-AF65-F5344CB8AC3E}">
        <p14:creationId xmlns:p14="http://schemas.microsoft.com/office/powerpoint/2010/main" val="17636154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3F172-F3CA-214C-3A10-FC2FC2800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2C49FB6-45FF-B90B-8684-78B3A48C2D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590550"/>
            <a:ext cx="57727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IN" b="1" dirty="0"/>
              <a:t>Locked Sessions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903CA85-3D5B-050C-1173-9019FACBB92A}"/>
              </a:ext>
            </a:extLst>
          </p:cNvPr>
          <p:cNvSpPr txBox="1"/>
          <p:nvPr/>
        </p:nvSpPr>
        <p:spPr>
          <a:xfrm>
            <a:off x="762000" y="1352550"/>
            <a:ext cx="7432040" cy="2228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lvl="1"/>
            <a:r>
              <a:rPr lang="en-US" sz="2000" b="1" dirty="0"/>
              <a:t>Locked Sessions (Inter-Semester Awareness):</a:t>
            </a:r>
          </a:p>
          <a:p>
            <a:pPr lvl="1"/>
            <a:endParaRPr lang="en-US" sz="1600" dirty="0"/>
          </a:p>
          <a:p>
            <a:pPr marL="285750" lvl="1" indent="-285750">
              <a:buFont typeface="Wingdings" panose="05000000000000000000" pitchFamily="2" charset="2"/>
              <a:buChar char="§"/>
            </a:pPr>
            <a:r>
              <a:rPr lang="en-US" dirty="0"/>
              <a:t>When generating for Semester 3, the solver loads </a:t>
            </a:r>
            <a:r>
              <a:rPr lang="en-US" b="1" dirty="0"/>
              <a:t>published</a:t>
            </a:r>
            <a:r>
              <a:rPr lang="en-US" dirty="0"/>
              <a:t> timetables from Semesters 1, 5, 7, etc.</a:t>
            </a:r>
          </a:p>
          <a:p>
            <a:pPr marL="285750" lvl="1" indent="-285750">
              <a:buFont typeface="Wingdings" panose="05000000000000000000" pitchFamily="2" charset="2"/>
              <a:buChar char="§"/>
            </a:pPr>
            <a:endParaRPr lang="en-US" dirty="0"/>
          </a:p>
          <a:p>
            <a:pPr marL="285750" lvl="1" indent="-285750">
              <a:buFont typeface="Wingdings" panose="05000000000000000000" pitchFamily="2" charset="2"/>
              <a:buChar char="§"/>
            </a:pPr>
            <a:r>
              <a:rPr lang="en-US" dirty="0"/>
              <a:t>These sessions are injected as </a:t>
            </a:r>
            <a:r>
              <a:rPr lang="en-US" b="1" dirty="0"/>
              <a:t>immutable genes</a:t>
            </a:r>
            <a:r>
              <a:rPr lang="en-US" dirty="0"/>
              <a:t> (</a:t>
            </a:r>
            <a:r>
              <a:rPr lang="en-US" dirty="0" err="1"/>
              <a:t>isLocked</a:t>
            </a:r>
            <a:r>
              <a:rPr lang="en-US" dirty="0"/>
              <a:t> = true)</a:t>
            </a:r>
          </a:p>
          <a:p>
            <a:pPr marL="285750" lvl="1" indent="-285750">
              <a:buFont typeface="Wingdings" panose="05000000000000000000" pitchFamily="2" charset="2"/>
              <a:buChar char="§"/>
            </a:pPr>
            <a:endParaRPr lang="en-US" dirty="0"/>
          </a:p>
          <a:p>
            <a:pPr marL="285750" lvl="1" indent="-285750">
              <a:buFont typeface="Wingdings" panose="05000000000000000000" pitchFamily="2" charset="2"/>
              <a:buChar char="§"/>
            </a:pPr>
            <a:r>
              <a:rPr lang="en-US" dirty="0"/>
              <a:t>They are </a:t>
            </a:r>
            <a:r>
              <a:rPr lang="en-US" b="1" dirty="0"/>
              <a:t>never mutated</a:t>
            </a:r>
            <a:r>
              <a:rPr lang="en-US" dirty="0"/>
              <a:t> but </a:t>
            </a:r>
            <a:r>
              <a:rPr lang="en-US" b="1" dirty="0"/>
              <a:t>fully participate</a:t>
            </a:r>
            <a:r>
              <a:rPr lang="en-US" dirty="0"/>
              <a:t> in constraint evaluation</a:t>
            </a:r>
          </a:p>
        </p:txBody>
      </p:sp>
    </p:spTree>
    <p:extLst>
      <p:ext uri="{BB962C8B-B14F-4D97-AF65-F5344CB8AC3E}">
        <p14:creationId xmlns:p14="http://schemas.microsoft.com/office/powerpoint/2010/main" val="2524265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System</a:t>
            </a:r>
            <a:r>
              <a:rPr spc="-65" dirty="0"/>
              <a:t> </a:t>
            </a:r>
            <a:r>
              <a:rPr dirty="0"/>
              <a:t>Design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810250" y="1461330"/>
            <a:ext cx="7142480" cy="15517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3E3E3E"/>
                </a:solidFill>
                <a:latin typeface="+mj-lt"/>
                <a:cs typeface="Calibri"/>
              </a:rPr>
              <a:t>System</a:t>
            </a:r>
            <a:r>
              <a:rPr sz="1500" b="1" spc="-3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+mj-lt"/>
                <a:cs typeface="Calibri"/>
              </a:rPr>
              <a:t>Design</a:t>
            </a:r>
            <a:r>
              <a:rPr sz="1500" b="1" spc="-25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b="1" spc="-10" dirty="0">
                <a:solidFill>
                  <a:srgbClr val="3E3E3E"/>
                </a:solidFill>
                <a:latin typeface="+mj-lt"/>
                <a:cs typeface="Calibri"/>
              </a:rPr>
              <a:t>(Three-</a:t>
            </a:r>
            <a:r>
              <a:rPr sz="1500" b="1" dirty="0">
                <a:solidFill>
                  <a:srgbClr val="3E3E3E"/>
                </a:solidFill>
                <a:latin typeface="+mj-lt"/>
                <a:cs typeface="Calibri"/>
              </a:rPr>
              <a:t>Tier</a:t>
            </a:r>
            <a:r>
              <a:rPr sz="1500" b="1" spc="-3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b="1" spc="-10" dirty="0">
                <a:solidFill>
                  <a:srgbClr val="3E3E3E"/>
                </a:solidFill>
                <a:latin typeface="+mj-lt"/>
                <a:cs typeface="Calibri"/>
              </a:rPr>
              <a:t>Architecture):</a:t>
            </a:r>
            <a:endParaRPr sz="1500" dirty="0">
              <a:latin typeface="+mj-lt"/>
              <a:cs typeface="Calibri"/>
            </a:endParaRPr>
          </a:p>
          <a:p>
            <a:pPr marL="469265" indent="-335915">
              <a:lnSpc>
                <a:spcPct val="100000"/>
              </a:lnSpc>
              <a:spcBef>
                <a:spcPts val="1200"/>
              </a:spcBef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69265" algn="l"/>
              </a:tabLst>
            </a:pPr>
            <a:r>
              <a:rPr sz="1500" b="1" dirty="0">
                <a:solidFill>
                  <a:srgbClr val="3E3E3E"/>
                </a:solidFill>
                <a:latin typeface="+mj-lt"/>
                <a:cs typeface="Calibri"/>
              </a:rPr>
              <a:t>Database</a:t>
            </a:r>
            <a:r>
              <a:rPr sz="1500" b="1" spc="-5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+mj-lt"/>
                <a:cs typeface="Calibri"/>
              </a:rPr>
              <a:t>(Supabase):</a:t>
            </a:r>
            <a:r>
              <a:rPr sz="1500" b="1" spc="-3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Stores</a:t>
            </a:r>
            <a:r>
              <a:rPr sz="1500" spc="-45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spc="-20" dirty="0">
                <a:solidFill>
                  <a:srgbClr val="3E3E3E"/>
                </a:solidFill>
                <a:latin typeface="+mj-lt"/>
                <a:cs typeface="Calibri"/>
              </a:rPr>
              <a:t>Professors,</a:t>
            </a:r>
            <a:r>
              <a:rPr sz="1500" spc="-5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Rooms,</a:t>
            </a:r>
            <a:r>
              <a:rPr sz="1500" spc="-45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Groups,</a:t>
            </a:r>
            <a:r>
              <a:rPr sz="1500" spc="-45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and</a:t>
            </a:r>
            <a:r>
              <a:rPr sz="1500" spc="-5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Subject</a:t>
            </a:r>
            <a:r>
              <a:rPr sz="1500" spc="-45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+mj-lt"/>
                <a:cs typeface="Calibri"/>
              </a:rPr>
              <a:t>L-</a:t>
            </a:r>
            <a:r>
              <a:rPr sz="1500" spc="-70" dirty="0">
                <a:solidFill>
                  <a:srgbClr val="3E3E3E"/>
                </a:solidFill>
                <a:latin typeface="+mj-lt"/>
                <a:cs typeface="Calibri"/>
              </a:rPr>
              <a:t>T-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P</a:t>
            </a:r>
            <a:r>
              <a:rPr sz="1500" spc="-45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+mj-lt"/>
                <a:cs typeface="Calibri"/>
              </a:rPr>
              <a:t>counts.</a:t>
            </a:r>
            <a:endParaRPr sz="1500" dirty="0">
              <a:latin typeface="+mj-lt"/>
              <a:cs typeface="Calibri"/>
            </a:endParaRPr>
          </a:p>
          <a:p>
            <a:pPr marL="469900" marR="5080" indent="-336550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69900" algn="l"/>
              </a:tabLst>
            </a:pPr>
            <a:r>
              <a:rPr sz="1500" b="1" spc="-10" dirty="0">
                <a:solidFill>
                  <a:srgbClr val="3E3E3E"/>
                </a:solidFill>
                <a:latin typeface="+mj-lt"/>
                <a:cs typeface="Calibri"/>
              </a:rPr>
              <a:t>Frontend</a:t>
            </a:r>
            <a:r>
              <a:rPr sz="1500" b="1" spc="-2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b="1" spc="-10" dirty="0">
                <a:solidFill>
                  <a:srgbClr val="3E3E3E"/>
                </a:solidFill>
                <a:latin typeface="+mj-lt"/>
                <a:cs typeface="Calibri"/>
              </a:rPr>
              <a:t>(React/TypeScript):</a:t>
            </a:r>
            <a:r>
              <a:rPr sz="1500" b="1" spc="-5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An</a:t>
            </a:r>
            <a:r>
              <a:rPr sz="1500" spc="-2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+mj-lt"/>
                <a:cs typeface="Calibri"/>
              </a:rPr>
              <a:t>interface</a:t>
            </a:r>
            <a:r>
              <a:rPr sz="1500" spc="-2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for</a:t>
            </a:r>
            <a:r>
              <a:rPr sz="1500" spc="-2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HODs</a:t>
            </a:r>
            <a:r>
              <a:rPr sz="1500" spc="-2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to</a:t>
            </a:r>
            <a:r>
              <a:rPr sz="1500" spc="-2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map</a:t>
            </a:r>
            <a:r>
              <a:rPr sz="1500" spc="-15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spc="-20" dirty="0">
                <a:solidFill>
                  <a:srgbClr val="3E3E3E"/>
                </a:solidFill>
                <a:latin typeface="+mj-lt"/>
                <a:cs typeface="Calibri"/>
              </a:rPr>
              <a:t>professors </a:t>
            </a:r>
            <a:r>
              <a:rPr sz="1500" dirty="0">
                <a:solidFill>
                  <a:srgbClr val="3E3E3E"/>
                </a:solidFill>
                <a:latin typeface="+mj-lt"/>
                <a:cs typeface="Calibri"/>
              </a:rPr>
              <a:t>to</a:t>
            </a:r>
            <a:r>
              <a:rPr sz="1500" spc="-2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+mj-lt"/>
                <a:cs typeface="Calibri"/>
              </a:rPr>
              <a:t>subjects</a:t>
            </a:r>
            <a:r>
              <a:rPr sz="1500" spc="-20" dirty="0">
                <a:solidFill>
                  <a:srgbClr val="3E3E3E"/>
                </a:solidFill>
                <a:latin typeface="+mj-lt"/>
                <a:cs typeface="Calibri"/>
              </a:rPr>
              <a:t> </a:t>
            </a:r>
            <a:r>
              <a:rPr sz="1500" spc="-25" dirty="0">
                <a:solidFill>
                  <a:srgbClr val="3E3E3E"/>
                </a:solidFill>
                <a:latin typeface="+mj-lt"/>
                <a:cs typeface="Calibri"/>
              </a:rPr>
              <a:t>and </a:t>
            </a:r>
            <a:r>
              <a:rPr sz="1500" spc="-10" dirty="0">
                <a:solidFill>
                  <a:srgbClr val="3E3E3E"/>
                </a:solidFill>
                <a:latin typeface="+mj-lt"/>
                <a:cs typeface="Calibri"/>
              </a:rPr>
              <a:t>sections.</a:t>
            </a:r>
            <a:endParaRPr sz="1500" dirty="0">
              <a:latin typeface="+mj-lt"/>
              <a:cs typeface="Calibri"/>
            </a:endParaRPr>
          </a:p>
          <a:p>
            <a:pPr marL="469900" marR="349250" indent="-336550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69900" algn="l"/>
              </a:tabLst>
            </a:pPr>
            <a:r>
              <a:rPr lang="en-US" sz="1500" b="1" dirty="0">
                <a:latin typeface="+mj-lt"/>
              </a:rPr>
              <a:t>Solver (Client-Side):</a:t>
            </a:r>
            <a:r>
              <a:rPr lang="en-US" sz="1500" dirty="0">
                <a:latin typeface="+mj-lt"/>
              </a:rPr>
              <a:t> A background engine in the browser that continuously improves the timetable.</a:t>
            </a:r>
            <a:endParaRPr sz="1500" dirty="0">
              <a:latin typeface="+mj-lt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6CA37-6926-49BF-DE06-7DE8CE209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8EE8F-42C1-CD17-A2DA-88A6A0164E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8D9E59-E773-F727-7E63-ACD12691CC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352550"/>
            <a:ext cx="8763000" cy="285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652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C0D7D-16FB-90DF-A96F-2892A5AC9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35" y="711276"/>
            <a:ext cx="7494914" cy="553998"/>
          </a:xfrm>
        </p:spPr>
        <p:txBody>
          <a:bodyPr/>
          <a:lstStyle/>
          <a:p>
            <a:r>
              <a:rPr lang="en-US" dirty="0"/>
              <a:t>Data Input: The Timetable Importer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2C4E47-3348-CB2A-D346-8D272762CF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1600" y="1352550"/>
            <a:ext cx="3870495" cy="2895600"/>
          </a:xfrm>
        </p:spPr>
        <p:txBody>
          <a:bodyPr/>
          <a:lstStyle/>
          <a:p>
            <a:r>
              <a:rPr lang="en-US" sz="1400" dirty="0"/>
              <a:t>• </a:t>
            </a:r>
            <a:r>
              <a:rPr lang="en-US" sz="1400" b="1" dirty="0"/>
              <a:t>Flexible Offline Timetable Entry:</a:t>
            </a:r>
            <a:r>
              <a:rPr lang="en-US" sz="1400" dirty="0"/>
              <a:t> Timetables can be uploaded directly using Excel files without running the solver.</a:t>
            </a:r>
          </a:p>
          <a:p>
            <a:r>
              <a:rPr lang="en-US" sz="1400" dirty="0"/>
              <a:t>• </a:t>
            </a:r>
            <a:r>
              <a:rPr lang="en-US" sz="1400" b="1" dirty="0"/>
              <a:t>Bulk Data Mapping:</a:t>
            </a:r>
            <a:r>
              <a:rPr lang="en-US" sz="1400" dirty="0"/>
              <a:t> Automatically converts subject codes, professor names, and room IDs into database records.</a:t>
            </a:r>
          </a:p>
          <a:p>
            <a:r>
              <a:rPr lang="en-US" sz="1400" dirty="0"/>
              <a:t>• </a:t>
            </a:r>
            <a:r>
              <a:rPr lang="en-US" sz="1400" b="1" dirty="0"/>
              <a:t>Immediate Synchronization:</a:t>
            </a:r>
            <a:r>
              <a:rPr lang="en-US" sz="1400" dirty="0"/>
              <a:t> Uploaded timetables instantly appear across all system views.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11FC76-27EE-0601-9825-13BAB7703D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63"/>
          <a:stretch>
            <a:fillRect/>
          </a:stretch>
        </p:blipFill>
        <p:spPr>
          <a:xfrm>
            <a:off x="88686" y="1354965"/>
            <a:ext cx="4990957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539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8BAE-F894-4922-57AC-E14043ABA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35" y="711276"/>
            <a:ext cx="7520305" cy="553998"/>
          </a:xfrm>
        </p:spPr>
        <p:txBody>
          <a:bodyPr/>
          <a:lstStyle/>
          <a:p>
            <a:r>
              <a:rPr lang="en-US" dirty="0"/>
              <a:t>Automated Scheduling: The Generator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1B8F01-3604-8EF4-B55C-8CA3491C6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1504950"/>
            <a:ext cx="3418850" cy="2077492"/>
          </a:xfrm>
        </p:spPr>
        <p:txBody>
          <a:bodyPr/>
          <a:lstStyle/>
          <a:p>
            <a:r>
              <a:rPr lang="en-US" dirty="0"/>
              <a:t>• </a:t>
            </a:r>
            <a:r>
              <a:rPr lang="en-US" b="1" dirty="0"/>
              <a:t>Guided Configuration:</a:t>
            </a:r>
            <a:r>
              <a:rPr lang="en-US" dirty="0"/>
              <a:t> Assists in assigning students, professors, and home rooms before timetable generation.</a:t>
            </a:r>
          </a:p>
          <a:p>
            <a:r>
              <a:rPr lang="en-US" dirty="0"/>
              <a:t>• </a:t>
            </a:r>
            <a:r>
              <a:rPr lang="en-US" b="1" dirty="0"/>
              <a:t>Cross-Semester Locking:</a:t>
            </a:r>
            <a:r>
              <a:rPr lang="en-US" dirty="0"/>
              <a:t> Prevents clashes by treating existing semester timetables as fixed constraints.</a:t>
            </a:r>
          </a:p>
          <a:p>
            <a:r>
              <a:rPr lang="en-US" dirty="0"/>
              <a:t>• </a:t>
            </a:r>
            <a:r>
              <a:rPr lang="en-US" b="1" dirty="0"/>
              <a:t>Client-Side (1+1)-ES Solver:</a:t>
            </a:r>
            <a:r>
              <a:rPr lang="en-US" dirty="0"/>
              <a:t> Generates optimized timetables directly in the browser with live fitness updates.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038911-8035-D1E7-680E-62CD4CFCBE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1666"/>
          <a:stretch>
            <a:fillRect/>
          </a:stretch>
        </p:blipFill>
        <p:spPr>
          <a:xfrm>
            <a:off x="4038600" y="1513804"/>
            <a:ext cx="4495800" cy="292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442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E4740-5BE5-9F5C-3BA3-A71CD1303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35" y="711276"/>
            <a:ext cx="7234555" cy="553998"/>
          </a:xfrm>
        </p:spPr>
        <p:txBody>
          <a:bodyPr/>
          <a:lstStyle/>
          <a:p>
            <a:r>
              <a:rPr lang="en-IN" dirty="0"/>
              <a:t>Human in Loop : The Interactive Editor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6BFDC5-85C5-3A8F-90DF-81CBE5C0D9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0" y="1327061"/>
            <a:ext cx="2656850" cy="2154436"/>
          </a:xfrm>
        </p:spPr>
        <p:txBody>
          <a:bodyPr/>
          <a:lstStyle/>
          <a:p>
            <a:r>
              <a:rPr lang="en-US" sz="1400" dirty="0"/>
              <a:t>• </a:t>
            </a:r>
            <a:r>
              <a:rPr lang="en-US" sz="1400" b="1" dirty="0"/>
              <a:t>Drag &amp; Drop Matrix:</a:t>
            </a:r>
            <a:r>
              <a:rPr lang="en-US" sz="1400" dirty="0"/>
              <a:t> A 5-day interactive calendar for easily adjusting timetable schedules.</a:t>
            </a:r>
          </a:p>
          <a:p>
            <a:r>
              <a:rPr lang="en-US" sz="1400" dirty="0"/>
              <a:t>• </a:t>
            </a:r>
            <a:r>
              <a:rPr lang="en-US" sz="1400" b="1" dirty="0"/>
              <a:t>Real-Time Clash Detection:</a:t>
            </a:r>
            <a:r>
              <a:rPr lang="en-US" sz="1400" dirty="0"/>
              <a:t> Instantly warns about room, teacher, or section conflicts after changes.</a:t>
            </a:r>
          </a:p>
          <a:p>
            <a:r>
              <a:rPr lang="en-US" sz="1400" dirty="0"/>
              <a:t>• </a:t>
            </a:r>
            <a:r>
              <a:rPr lang="en-US" sz="1400" b="1" dirty="0"/>
              <a:t>LNS Automated Fix:</a:t>
            </a:r>
            <a:r>
              <a:rPr lang="en-US" sz="1400" dirty="0"/>
              <a:t> Automatically repairs timetable clashes with a single click.</a:t>
            </a:r>
          </a:p>
          <a:p>
            <a:r>
              <a:rPr lang="en-US" sz="1400" dirty="0"/>
              <a:t>• </a:t>
            </a:r>
            <a:r>
              <a:rPr lang="en-US" sz="1400" b="1" dirty="0"/>
              <a:t>Inline Editing:</a:t>
            </a:r>
            <a:r>
              <a:rPr lang="en-US" sz="1400" dirty="0"/>
              <a:t> Quickly reassign teachers or rooms using hover-based edit options.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F29E46-69B1-2065-D91E-5310CDF6E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0" y="1295132"/>
            <a:ext cx="6092289" cy="3302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996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2D2EF-20F7-DFF4-A069-2CA70ECB0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35" y="711276"/>
            <a:ext cx="7494915" cy="553998"/>
          </a:xfrm>
        </p:spPr>
        <p:txBody>
          <a:bodyPr/>
          <a:lstStyle/>
          <a:p>
            <a:r>
              <a:rPr lang="en-US" dirty="0"/>
              <a:t>Student Dashboards: Students View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19D96C-9307-A2D1-442D-2E21B5646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504950"/>
            <a:ext cx="3114050" cy="2077492"/>
          </a:xfrm>
        </p:spPr>
        <p:txBody>
          <a:bodyPr/>
          <a:lstStyle/>
          <a:p>
            <a:r>
              <a:rPr lang="en-US" dirty="0"/>
              <a:t>• </a:t>
            </a:r>
            <a:r>
              <a:rPr lang="en-US" b="1" dirty="0"/>
              <a:t>Filtered Personalization:</a:t>
            </a:r>
            <a:r>
              <a:rPr lang="en-US" dirty="0"/>
              <a:t> Lets users view schedules by selecting a specific semester and section.</a:t>
            </a:r>
          </a:p>
          <a:p>
            <a:r>
              <a:rPr lang="en-US" dirty="0"/>
              <a:t>• </a:t>
            </a:r>
            <a:r>
              <a:rPr lang="en-US" b="1" dirty="0"/>
              <a:t>Intelligent Merge Algorithm:</a:t>
            </a:r>
            <a:r>
              <a:rPr lang="en-US" dirty="0"/>
              <a:t> Combines core lectures and elective sessions into one timetable.</a:t>
            </a:r>
          </a:p>
          <a:p>
            <a:r>
              <a:rPr lang="en-US" dirty="0"/>
              <a:t>• </a:t>
            </a:r>
            <a:r>
              <a:rPr lang="en-US" b="1" dirty="0"/>
              <a:t>Time Column Management:</a:t>
            </a:r>
            <a:r>
              <a:rPr lang="en-US" dirty="0"/>
              <a:t> Hides unused time slots to improve readability and save space.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EFEE59-E133-421C-2B41-08EBC5E212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41"/>
          <a:stretch>
            <a:fillRect/>
          </a:stretch>
        </p:blipFill>
        <p:spPr>
          <a:xfrm>
            <a:off x="3886201" y="1431403"/>
            <a:ext cx="5105400" cy="3000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999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DB7B9-1013-2DE2-93DE-EEC6E3EB7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35" y="711276"/>
            <a:ext cx="7234555" cy="553998"/>
          </a:xfrm>
        </p:spPr>
        <p:txBody>
          <a:bodyPr/>
          <a:lstStyle/>
          <a:p>
            <a:r>
              <a:rPr lang="en-IN" dirty="0"/>
              <a:t>Faculty Dashboards: Professors 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D63C8F-34CA-8106-7498-8C67D75ECE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9450" y="1417588"/>
            <a:ext cx="3654550" cy="2077492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Unified Timetable for Teachers: </a:t>
            </a:r>
            <a:r>
              <a:rPr lang="en-US" dirty="0"/>
              <a:t>It enables teachers to search using their name or teacher’s ID to find out what classes they have scheduled at the institute overall.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 More Checking Multiple Timetables: </a:t>
            </a:r>
            <a:r>
              <a:rPr lang="en-US" dirty="0"/>
              <a:t>No more hassle for professors since all the information is consolidated in one place.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Ready for Export: </a:t>
            </a:r>
            <a:r>
              <a:rPr lang="en-US" dirty="0"/>
              <a:t>It works seamlessly with the 1-click PDF export feature.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E55B75-D9DD-3EC6-0A7B-FF47A84F2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50" y="1504950"/>
            <a:ext cx="5178550" cy="279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9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04AB8-21AC-DF1E-A3FF-0AD8288B5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35" y="711276"/>
            <a:ext cx="7234555" cy="553998"/>
          </a:xfrm>
        </p:spPr>
        <p:txBody>
          <a:bodyPr/>
          <a:lstStyle/>
          <a:p>
            <a:r>
              <a:rPr lang="en-US" dirty="0"/>
              <a:t>Facility Tracking: Individual Room View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5E207D-58A2-7F0A-0160-BEE3DE7DEC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0" y="1428750"/>
            <a:ext cx="3571250" cy="1846659"/>
          </a:xfrm>
        </p:spPr>
        <p:txBody>
          <a:bodyPr/>
          <a:lstStyle/>
          <a:p>
            <a:r>
              <a:rPr lang="en-US" dirty="0"/>
              <a:t>• </a:t>
            </a:r>
            <a:r>
              <a:rPr lang="en-US" b="1" dirty="0"/>
              <a:t>Room Schedule Lookup:</a:t>
            </a:r>
            <a:r>
              <a:rPr lang="en-US" dirty="0"/>
              <a:t> Allows admins to view the timetable of any room in the university.</a:t>
            </a:r>
          </a:p>
          <a:p>
            <a:r>
              <a:rPr lang="en-US" dirty="0"/>
              <a:t>• </a:t>
            </a:r>
            <a:r>
              <a:rPr lang="en-US" b="1" dirty="0"/>
              <a:t>Room Type Filtering:</a:t>
            </a:r>
            <a:r>
              <a:rPr lang="en-US" dirty="0"/>
              <a:t> Quickly separates lecture rooms from lab rooms.</a:t>
            </a:r>
          </a:p>
          <a:p>
            <a:r>
              <a:rPr lang="en-US" dirty="0"/>
              <a:t>• </a:t>
            </a:r>
            <a:r>
              <a:rPr lang="en-US" b="1" dirty="0"/>
              <a:t>Google Sheets API Export:</a:t>
            </a:r>
            <a:r>
              <a:rPr lang="en-US" dirty="0"/>
              <a:t> Exports room timetables directly to the administrator’s Google Drive.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501E84-2538-C6CF-85F4-059F8CD66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28750"/>
            <a:ext cx="4798944" cy="300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61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FC776-580A-2EC1-8858-A363FD8BC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2950"/>
            <a:ext cx="8686800" cy="553998"/>
          </a:xfrm>
        </p:spPr>
        <p:txBody>
          <a:bodyPr/>
          <a:lstStyle/>
          <a:p>
            <a:r>
              <a:rPr lang="en-US" dirty="0"/>
              <a:t>Campus Admin: Master Occupancy View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23F4B-F78D-1A0B-2D32-E47AEDE859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7808" y="1399729"/>
            <a:ext cx="2428250" cy="2539157"/>
          </a:xfrm>
        </p:spPr>
        <p:txBody>
          <a:bodyPr/>
          <a:lstStyle/>
          <a:p>
            <a:r>
              <a:rPr lang="en-US" dirty="0"/>
              <a:t>• </a:t>
            </a:r>
            <a:r>
              <a:rPr lang="en-US" b="1" dirty="0"/>
              <a:t>Macro-Level Perspective:</a:t>
            </a:r>
            <a:r>
              <a:rPr lang="en-US" dirty="0"/>
              <a:t> Displays room usage across the campus in a bird’s-eye view format.</a:t>
            </a:r>
          </a:p>
          <a:p>
            <a:r>
              <a:rPr lang="en-US" dirty="0"/>
              <a:t>• </a:t>
            </a:r>
            <a:r>
              <a:rPr lang="en-US" b="1" dirty="0"/>
              <a:t>Filtering by Building Prefix:</a:t>
            </a:r>
            <a:r>
              <a:rPr lang="en-US" dirty="0"/>
              <a:t> Shows only rooms from selected buildings such as CC-3.</a:t>
            </a:r>
          </a:p>
          <a:p>
            <a:r>
              <a:rPr lang="en-US" dirty="0"/>
              <a:t>• </a:t>
            </a:r>
            <a:r>
              <a:rPr lang="en-US" b="1" dirty="0"/>
              <a:t>Usage Audit:</a:t>
            </a:r>
            <a:r>
              <a:rPr lang="en-US" dirty="0"/>
              <a:t> Helps analyze room utilization for full-day planning and management.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D81C60-6FB5-2717-5D18-89B7E3AFC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1399728"/>
            <a:ext cx="5410856" cy="3000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9488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8396B-AB0C-DBC6-7402-ABFED21CC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024" y="742950"/>
            <a:ext cx="7771776" cy="553998"/>
          </a:xfrm>
        </p:spPr>
        <p:txBody>
          <a:bodyPr/>
          <a:lstStyle/>
          <a:p>
            <a:r>
              <a:rPr lang="en-US" dirty="0"/>
              <a:t>Availability: The Free Room Finder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582A66-D0E1-70D8-FC5C-FFA70520EA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28750"/>
            <a:ext cx="3647450" cy="184665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Inverted Logic Algorithm: </a:t>
            </a:r>
            <a:r>
              <a:rPr lang="en-US" dirty="0"/>
              <a:t>Calculates available rooms by deducting occupied slots from the total inventory in the entire campus.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Instant Availability Matrix: </a:t>
            </a:r>
            <a:r>
              <a:rPr lang="en-US" dirty="0"/>
              <a:t>Shows all available rooms immediately for a particular day and slot.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Universal Application: </a:t>
            </a:r>
            <a:r>
              <a:rPr lang="en-US" dirty="0"/>
              <a:t>Helps both students who require a place to study and staff members planning maintenance activities.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716F8B-F007-21AE-6D2C-596BA147C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427182"/>
            <a:ext cx="4610637" cy="289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279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436AC-90E2-CA49-D8AE-2E4CE1ECA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854F9-F7E5-6FDB-F111-61764862A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332166-44A6-2A72-39D1-424977B36B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962150"/>
            <a:ext cx="5181600" cy="19074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EF866C-68E6-74A1-765F-B15AD4670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25" y="1395479"/>
            <a:ext cx="3105980" cy="3270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997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pc="-10" dirty="0"/>
              <a:t>Advantages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810250" y="1809480"/>
            <a:ext cx="7324725" cy="2463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The</a:t>
            </a:r>
            <a:r>
              <a:rPr sz="1500" b="1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Pivot</a:t>
            </a:r>
            <a:r>
              <a:rPr sz="1500" b="1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to</a:t>
            </a:r>
            <a:r>
              <a:rPr sz="1500" b="1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(1+1)</a:t>
            </a:r>
            <a:r>
              <a:rPr sz="1500" b="1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spc="-10" dirty="0">
                <a:solidFill>
                  <a:srgbClr val="3E3E3E"/>
                </a:solidFill>
                <a:latin typeface="Calibri"/>
                <a:cs typeface="Calibri"/>
              </a:rPr>
              <a:t>Evolution</a:t>
            </a:r>
            <a:r>
              <a:rPr sz="1500" b="1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spc="-10" dirty="0">
                <a:solidFill>
                  <a:srgbClr val="3E3E3E"/>
                </a:solidFill>
                <a:latin typeface="Calibri"/>
                <a:cs typeface="Calibri"/>
              </a:rPr>
              <a:t>Strategy</a:t>
            </a:r>
            <a:endParaRPr sz="15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500" dirty="0">
              <a:latin typeface="Calibri"/>
              <a:cs typeface="Calibri"/>
            </a:endParaRPr>
          </a:p>
          <a:p>
            <a:pPr marL="469900" marR="5080" indent="-336550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69900" algn="l"/>
              </a:tabLst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Data</a:t>
            </a:r>
            <a:r>
              <a:rPr sz="1500" b="1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Simplification:</a:t>
            </a:r>
            <a:r>
              <a:rPr sz="1500" b="1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Drastically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simplified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target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representation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by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pre-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chunking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sessions upfront.</a:t>
            </a:r>
            <a:endParaRPr sz="1500" dirty="0">
              <a:latin typeface="Calibri"/>
              <a:cs typeface="Calibri"/>
            </a:endParaRPr>
          </a:p>
          <a:p>
            <a:pPr marL="469900" marR="19685" indent="-336550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69900" algn="l"/>
              </a:tabLst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Memory</a:t>
            </a:r>
            <a:r>
              <a:rPr sz="1500" b="1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spc="-10" dirty="0">
                <a:solidFill>
                  <a:srgbClr val="3E3E3E"/>
                </a:solidFill>
                <a:latin typeface="Calibri"/>
                <a:cs typeface="Calibri"/>
              </a:rPr>
              <a:t>Footprint:</a:t>
            </a:r>
            <a:r>
              <a:rPr sz="1500" b="1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(1+1)-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ES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holds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only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one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parent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and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one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offspring,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making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it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memory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light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for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browser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execution,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unlike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population-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based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Genetic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Algorithms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(GAs).</a:t>
            </a:r>
            <a:endParaRPr sz="1500" dirty="0">
              <a:latin typeface="Calibri"/>
              <a:cs typeface="Calibri"/>
            </a:endParaRPr>
          </a:p>
          <a:p>
            <a:pPr marL="469900" marR="393700" indent="-336550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69900" algn="l"/>
              </a:tabLst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Local</a:t>
            </a:r>
            <a:r>
              <a:rPr sz="1500" b="1" spc="-5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Minima</a:t>
            </a:r>
            <a:r>
              <a:rPr sz="1500" b="1" spc="-5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Management:</a:t>
            </a:r>
            <a:r>
              <a:rPr sz="1500" b="1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Implemented</a:t>
            </a:r>
            <a:r>
              <a:rPr sz="1500" spc="-5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strict</a:t>
            </a:r>
            <a:r>
              <a:rPr sz="1500" spc="-5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Rechenberg's</a:t>
            </a:r>
            <a:r>
              <a:rPr sz="1500" spc="-5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1/5th</a:t>
            </a:r>
            <a:r>
              <a:rPr sz="1500" spc="-5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success</a:t>
            </a:r>
            <a:r>
              <a:rPr sz="1500" spc="-5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rule</a:t>
            </a:r>
            <a:r>
              <a:rPr sz="1500" spc="-5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to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manage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the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local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minima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problem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natively.</a:t>
            </a:r>
            <a:endParaRPr sz="1500" dirty="0">
              <a:latin typeface="Calibri"/>
              <a:cs typeface="Calibri"/>
            </a:endParaRPr>
          </a:p>
          <a:p>
            <a:pPr marL="469900" marR="162560" indent="-336550">
              <a:lnSpc>
                <a:spcPct val="10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469900" algn="l"/>
              </a:tabLst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Adaptive</a:t>
            </a:r>
            <a:r>
              <a:rPr sz="1500" b="1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spc="-10" dirty="0">
                <a:solidFill>
                  <a:srgbClr val="3E3E3E"/>
                </a:solidFill>
                <a:latin typeface="Calibri"/>
                <a:cs typeface="Calibri"/>
              </a:rPr>
              <a:t>Variance:</a:t>
            </a:r>
            <a:r>
              <a:rPr sz="1500" b="1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Scales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search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intensity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without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relying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on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brittle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cooling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schedules, allowing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the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solver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to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maintain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constraint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integrity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through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strict</a:t>
            </a:r>
            <a:r>
              <a:rPr sz="1500" spc="-4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elitism.</a:t>
            </a:r>
            <a:endParaRPr sz="15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Conclusion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1528" y="1443990"/>
            <a:ext cx="7322820" cy="2768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8615" marR="33020" indent="-336550">
              <a:lnSpc>
                <a:spcPct val="150000"/>
              </a:lnSpc>
              <a:spcBef>
                <a:spcPts val="100"/>
              </a:spcBef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348615" algn="l"/>
              </a:tabLst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Final</a:t>
            </a:r>
            <a:r>
              <a:rPr sz="1500" b="1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Result:</a:t>
            </a:r>
            <a:r>
              <a:rPr sz="1500" b="1" spc="-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The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implementation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successfully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manages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the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L-</a:t>
            </a:r>
            <a:r>
              <a:rPr sz="1500" spc="-70" dirty="0">
                <a:solidFill>
                  <a:srgbClr val="3E3E3E"/>
                </a:solidFill>
                <a:latin typeface="Calibri"/>
                <a:cs typeface="Calibri"/>
              </a:rPr>
              <a:t>T-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P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division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and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the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(1+1)-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ES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loop.</a:t>
            </a:r>
            <a:endParaRPr sz="1500">
              <a:latin typeface="Calibri"/>
              <a:cs typeface="Calibri"/>
            </a:endParaRPr>
          </a:p>
          <a:p>
            <a:pPr marL="348615" marR="5080" indent="-336550">
              <a:lnSpc>
                <a:spcPct val="15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348615" algn="l"/>
              </a:tabLst>
            </a:pPr>
            <a:r>
              <a:rPr sz="1500" b="1" spc="-10" dirty="0">
                <a:solidFill>
                  <a:srgbClr val="3E3E3E"/>
                </a:solidFill>
                <a:latin typeface="Calibri"/>
                <a:cs typeface="Calibri"/>
              </a:rPr>
              <a:t>Overcoming</a:t>
            </a:r>
            <a:r>
              <a:rPr sz="1500" b="1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Obstacles:</a:t>
            </a:r>
            <a:r>
              <a:rPr sz="1500" b="1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The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system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resolves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hard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conflicts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in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high-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density</a:t>
            </a:r>
            <a:r>
              <a:rPr sz="1500" spc="-4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scenarios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where previous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implementations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failed.</a:t>
            </a:r>
            <a:endParaRPr sz="1500">
              <a:latin typeface="Calibri"/>
              <a:cs typeface="Calibri"/>
            </a:endParaRPr>
          </a:p>
          <a:p>
            <a:pPr marL="348615" marR="50165" indent="-336550">
              <a:lnSpc>
                <a:spcPct val="15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348615" algn="l"/>
              </a:tabLst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Preserving</a:t>
            </a:r>
            <a:r>
              <a:rPr sz="1500" b="1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spc="-10" dirty="0">
                <a:solidFill>
                  <a:srgbClr val="3E3E3E"/>
                </a:solidFill>
                <a:latin typeface="Calibri"/>
                <a:cs typeface="Calibri"/>
              </a:rPr>
              <a:t>Structure:</a:t>
            </a:r>
            <a:r>
              <a:rPr sz="1500" b="1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It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specifically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maintains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the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integrity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of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synchronized</a:t>
            </a:r>
            <a:r>
              <a:rPr sz="1500" spc="-3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elective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blocks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through</a:t>
            </a:r>
            <a:r>
              <a:rPr sz="1500" spc="-7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elitist</a:t>
            </a:r>
            <a:r>
              <a:rPr sz="1500" spc="-6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selection.</a:t>
            </a:r>
            <a:endParaRPr sz="1500">
              <a:latin typeface="Calibri"/>
              <a:cs typeface="Calibri"/>
            </a:endParaRPr>
          </a:p>
          <a:p>
            <a:pPr marL="348615" marR="187325" indent="-336550">
              <a:lnSpc>
                <a:spcPct val="150000"/>
              </a:lnSpc>
              <a:buClr>
                <a:srgbClr val="E48312"/>
              </a:buClr>
              <a:buSzPct val="93333"/>
              <a:buFont typeface="Microsoft Sans Serif"/>
              <a:buChar char="●"/>
              <a:tabLst>
                <a:tab pos="348615" algn="l"/>
              </a:tabLst>
            </a:pPr>
            <a:r>
              <a:rPr sz="1500" b="1" dirty="0">
                <a:solidFill>
                  <a:srgbClr val="3E3E3E"/>
                </a:solidFill>
                <a:latin typeface="Calibri"/>
                <a:cs typeface="Calibri"/>
              </a:rPr>
              <a:t>Ready</a:t>
            </a:r>
            <a:r>
              <a:rPr sz="1500" b="1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b="1" spc="-10" dirty="0">
                <a:solidFill>
                  <a:srgbClr val="3E3E3E"/>
                </a:solidFill>
                <a:latin typeface="Calibri"/>
                <a:cs typeface="Calibri"/>
              </a:rPr>
              <a:t>Structure:</a:t>
            </a:r>
            <a:r>
              <a:rPr sz="1500" b="1" spc="-1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The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architecture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serves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as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a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functional,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optimized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solution</a:t>
            </a:r>
            <a:r>
              <a:rPr sz="1500" spc="-3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dirty="0">
                <a:solidFill>
                  <a:srgbClr val="3E3E3E"/>
                </a:solidFill>
                <a:latin typeface="Calibri"/>
                <a:cs typeface="Calibri"/>
              </a:rPr>
              <a:t>for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modern university</a:t>
            </a:r>
            <a:r>
              <a:rPr sz="1500" spc="-25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timetabling</a:t>
            </a:r>
            <a:r>
              <a:rPr sz="1500" spc="-20" dirty="0">
                <a:solidFill>
                  <a:srgbClr val="3E3E3E"/>
                </a:solidFill>
                <a:latin typeface="Calibri"/>
                <a:cs typeface="Calibri"/>
              </a:rPr>
              <a:t> </a:t>
            </a:r>
            <a:r>
              <a:rPr sz="1500" spc="-10" dirty="0">
                <a:solidFill>
                  <a:srgbClr val="3E3E3E"/>
                </a:solidFill>
                <a:latin typeface="Calibri"/>
                <a:cs typeface="Calibri"/>
              </a:rPr>
              <a:t>needs.</a:t>
            </a:r>
            <a:endParaRPr sz="15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317E3-B206-67E1-D8FC-C112A4FAB3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709142"/>
            <a:ext cx="7772400" cy="1107996"/>
          </a:xfrm>
        </p:spPr>
        <p:txBody>
          <a:bodyPr/>
          <a:lstStyle/>
          <a:p>
            <a:pPr algn="ctr"/>
            <a:r>
              <a:rPr lang="en-IN" sz="7200" dirty="0"/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11526B-6D74-188B-C712-3A41BDFF3A1B}"/>
              </a:ext>
            </a:extLst>
          </p:cNvPr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39147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F6AF-CB95-2203-C1C7-EDF239CCA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35" y="711276"/>
            <a:ext cx="7234555" cy="861774"/>
          </a:xfrm>
        </p:spPr>
        <p:txBody>
          <a:bodyPr/>
          <a:lstStyle/>
          <a:p>
            <a:r>
              <a:rPr lang="en-IN" sz="2800" dirty="0"/>
              <a:t>Glossary - Rechenberg’s 1/5th Success Rule</a:t>
            </a:r>
            <a:br>
              <a:rPr lang="en-IN" sz="2800" dirty="0"/>
            </a:br>
            <a:endParaRPr lang="en-IN" sz="28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DEBB8C-E9B6-5551-EFC8-A44E67B85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7783" y="1276350"/>
            <a:ext cx="7520305" cy="3352800"/>
          </a:xfrm>
        </p:spPr>
        <p:txBody>
          <a:bodyPr/>
          <a:lstStyle/>
          <a:p>
            <a:r>
              <a:rPr lang="en-US" b="1" dirty="0"/>
              <a:t>Definition of the Method:</a:t>
            </a:r>
          </a:p>
          <a:p>
            <a:r>
              <a:rPr lang="en-US" dirty="0"/>
              <a:t>Adaptive rule in evolutionary algorithms for dynamic control of “step size” (mutation), requiring that the ideal number of successful mutations be precisely equal to 20% (1/5).</a:t>
            </a:r>
          </a:p>
          <a:p>
            <a:endParaRPr lang="en-US" b="1" dirty="0"/>
          </a:p>
          <a:p>
            <a:r>
              <a:rPr lang="en-US" b="1" dirty="0"/>
              <a:t>How Did We Apply It?</a:t>
            </a:r>
          </a:p>
          <a:p>
            <a:r>
              <a:rPr lang="en-US" b="1" dirty="0"/>
              <a:t>1. </a:t>
            </a:r>
            <a:r>
              <a:rPr lang="en-US" dirty="0"/>
              <a:t>When the solver is too chaotic (excessively many failures). In this case, the solver is moving randomly, chaotically. In order to avoid such a situation, the mutation rate is decreased by the system.</a:t>
            </a:r>
            <a:endParaRPr lang="en-US" b="1" dirty="0"/>
          </a:p>
          <a:p>
            <a:r>
              <a:rPr lang="en-US" b="1" dirty="0"/>
              <a:t>2. </a:t>
            </a:r>
            <a:r>
              <a:rPr lang="en-US" dirty="0"/>
              <a:t>When the solver is too stagnant (excessively many successes). This situation means that the algorithm is moving too slowly. The mutation rate is increased by the system.</a:t>
            </a:r>
          </a:p>
          <a:p>
            <a:endParaRPr lang="en-US" b="1" dirty="0"/>
          </a:p>
          <a:p>
            <a:r>
              <a:rPr lang="en-US" b="1" dirty="0"/>
              <a:t>Results:</a:t>
            </a:r>
          </a:p>
          <a:p>
            <a:r>
              <a:rPr lang="en-US" dirty="0"/>
              <a:t>Our (1+1)-ES solver can be considered as an intelligent “brain,” dynamically adjusting between the global search and local search every 50 generations. Consequently, fast convergence toward a zero-conflict schedule is achieved.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7124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</TotalTime>
  <Words>2254</Words>
  <Application>Microsoft Office PowerPoint</Application>
  <PresentationFormat>On-screen Show (16:9)</PresentationFormat>
  <Paragraphs>190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Microsoft Sans Serif</vt:lpstr>
      <vt:lpstr>Times New Roman</vt:lpstr>
      <vt:lpstr>Wingdings</vt:lpstr>
      <vt:lpstr>Office Theme</vt:lpstr>
      <vt:lpstr>Automated IIITA Timetabling System</vt:lpstr>
      <vt:lpstr>Problem Statement</vt:lpstr>
      <vt:lpstr>Literature Review</vt:lpstr>
      <vt:lpstr>Formulation of Hard Constraints</vt:lpstr>
      <vt:lpstr>Formulation of Hard Constraints</vt:lpstr>
      <vt:lpstr>Formulation of Hard Constraints</vt:lpstr>
      <vt:lpstr>Formulation of Hard Constraints</vt:lpstr>
      <vt:lpstr>Soft Constraints</vt:lpstr>
      <vt:lpstr>Problem Representation(Chromosome)</vt:lpstr>
      <vt:lpstr>The (1+1)-ES Algorithm—Mutation</vt:lpstr>
      <vt:lpstr>Selection &amp; σ-Adaptation</vt:lpstr>
      <vt:lpstr>Stagnation Recovery </vt:lpstr>
      <vt:lpstr>Locked Sessions</vt:lpstr>
      <vt:lpstr>System Design</vt:lpstr>
      <vt:lpstr>System Workflow</vt:lpstr>
      <vt:lpstr>Data Input: The Timetable Importer</vt:lpstr>
      <vt:lpstr>Automated Scheduling: The Generator</vt:lpstr>
      <vt:lpstr>Human in Loop : The Interactive Editor</vt:lpstr>
      <vt:lpstr>Student Dashboards: Students View</vt:lpstr>
      <vt:lpstr>Faculty Dashboards: Professors View</vt:lpstr>
      <vt:lpstr>Facility Tracking: Individual Room View</vt:lpstr>
      <vt:lpstr>Campus Admin: Master Occupancy View</vt:lpstr>
      <vt:lpstr>Availability: The Free Room Finder</vt:lpstr>
      <vt:lpstr>Results</vt:lpstr>
      <vt:lpstr>Advantages</vt:lpstr>
      <vt:lpstr>Conclusion</vt:lpstr>
      <vt:lpstr>THANK YOU!</vt:lpstr>
      <vt:lpstr>Glossary - Rechenberg’s 1/5th Success Rule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TTGen</dc:title>
  <cp:lastModifiedBy>Rahul Roy</cp:lastModifiedBy>
  <cp:revision>8</cp:revision>
  <dcterms:created xsi:type="dcterms:W3CDTF">2026-05-06T20:12:52Z</dcterms:created>
  <dcterms:modified xsi:type="dcterms:W3CDTF">2026-05-07T02:35:06Z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2026-05-06T00:00:00Z</vt:filetime>
  </property>
  <property fmtid="{D5CDD505-2E9C-101B-9397-08002B2CF9AE}" pid="3" name="Creator">
    <vt:lpwstr>Google</vt:lpwstr>
  </property>
  <property fmtid="{D5CDD505-2E9C-101B-9397-08002B2CF9AE}" pid="4" name="LastSaved">
    <vt:filetime>2026-05-06T00:00:00Z</vt:filetime>
  </property>
</Properties>
</file>