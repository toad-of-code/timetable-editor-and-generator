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71" r:id="rId5"/>
    <p:sldId id="272" r:id="rId6"/>
    <p:sldId id="273" r:id="rId7"/>
    <p:sldId id="274" r:id="rId8"/>
    <p:sldId id="262" r:id="rId9"/>
    <p:sldId id="267" r:id="rId10"/>
    <p:sldId id="268" r:id="rId11"/>
    <p:sldId id="264" r:id="rId12"/>
    <p:sldId id="265" r:id="rId13"/>
    <p:sldId id="266" r:id="rId14"/>
    <p:sldId id="269" r:id="rId15"/>
    <p:sldId id="270" r:id="rId1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41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BD582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BD582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BD582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413249"/>
            <a:ext cx="9144000" cy="73025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95149" y="1303383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952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03825"/>
            <a:ext cx="9144002" cy="34713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BD582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9144000" h="342900">
                <a:moveTo>
                  <a:pt x="9143999" y="342899"/>
                </a:moveTo>
                <a:lnTo>
                  <a:pt x="0" y="3428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42899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750737"/>
            <a:ext cx="9144000" cy="49530"/>
          </a:xfrm>
          <a:custGeom>
            <a:avLst/>
            <a:gdLst/>
            <a:ahLst/>
            <a:cxnLst/>
            <a:rect l="l" t="t" r="r" b="b"/>
            <a:pathLst>
              <a:path w="9144000" h="49529">
                <a:moveTo>
                  <a:pt x="9144000" y="49498"/>
                </a:moveTo>
                <a:lnTo>
                  <a:pt x="0" y="49498"/>
                </a:lnTo>
                <a:lnTo>
                  <a:pt x="0" y="0"/>
                </a:lnTo>
                <a:lnTo>
                  <a:pt x="9144000" y="0"/>
                </a:lnTo>
                <a:lnTo>
                  <a:pt x="9144000" y="49498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5149" y="1303383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952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6935" y="711276"/>
            <a:ext cx="723455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BD582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2150" y="1760880"/>
            <a:ext cx="7520305" cy="254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" y="4750737"/>
            <a:ext cx="9144000" cy="393065"/>
            <a:chOff x="11" y="4750737"/>
            <a:chExt cx="9144000" cy="393065"/>
          </a:xfrm>
        </p:grpSpPr>
        <p:sp>
          <p:nvSpPr>
            <p:cNvPr id="3" name="object 3"/>
            <p:cNvSpPr/>
            <p:nvPr/>
          </p:nvSpPr>
          <p:spPr>
            <a:xfrm>
              <a:off x="2381" y="4800600"/>
              <a:ext cx="9142095" cy="342900"/>
            </a:xfrm>
            <a:custGeom>
              <a:avLst/>
              <a:gdLst/>
              <a:ahLst/>
              <a:cxnLst/>
              <a:rect l="l" t="t" r="r" b="b"/>
              <a:pathLst>
                <a:path w="9142095" h="342900">
                  <a:moveTo>
                    <a:pt x="9141618" y="342899"/>
                  </a:moveTo>
                  <a:lnTo>
                    <a:pt x="0" y="342899"/>
                  </a:lnTo>
                  <a:lnTo>
                    <a:pt x="0" y="0"/>
                  </a:lnTo>
                  <a:lnTo>
                    <a:pt x="9141618" y="0"/>
                  </a:lnTo>
                  <a:lnTo>
                    <a:pt x="9141618" y="342899"/>
                  </a:lnTo>
                  <a:close/>
                </a:path>
              </a:pathLst>
            </a:custGeom>
            <a:solidFill>
              <a:srgbClr val="BD5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" y="4750737"/>
              <a:ext cx="9142095" cy="48260"/>
            </a:xfrm>
            <a:custGeom>
              <a:avLst/>
              <a:gdLst/>
              <a:ahLst/>
              <a:cxnLst/>
              <a:rect l="l" t="t" r="r" b="b"/>
              <a:pathLst>
                <a:path w="9142095" h="48260">
                  <a:moveTo>
                    <a:pt x="9141618" y="48005"/>
                  </a:moveTo>
                  <a:lnTo>
                    <a:pt x="0" y="48005"/>
                  </a:lnTo>
                  <a:lnTo>
                    <a:pt x="0" y="0"/>
                  </a:lnTo>
                  <a:lnTo>
                    <a:pt x="9141618" y="0"/>
                  </a:lnTo>
                  <a:lnTo>
                    <a:pt x="9141618" y="48005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905743" y="3257550"/>
            <a:ext cx="740664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39" y="0"/>
                </a:lnTo>
              </a:path>
            </a:pathLst>
          </a:custGeom>
          <a:ln w="952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4476" y="381722"/>
            <a:ext cx="6043930" cy="1717039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 marR="5080">
              <a:lnSpc>
                <a:spcPts val="6120"/>
              </a:lnSpc>
              <a:spcBef>
                <a:spcPts val="1205"/>
              </a:spcBef>
            </a:pPr>
            <a:r>
              <a:rPr sz="6000" dirty="0">
                <a:solidFill>
                  <a:srgbClr val="262626"/>
                </a:solidFill>
              </a:rPr>
              <a:t>Automated</a:t>
            </a:r>
            <a:r>
              <a:rPr sz="6000" spc="-325" dirty="0">
                <a:solidFill>
                  <a:srgbClr val="262626"/>
                </a:solidFill>
              </a:rPr>
              <a:t> </a:t>
            </a:r>
            <a:r>
              <a:rPr sz="6000" spc="-10" dirty="0">
                <a:solidFill>
                  <a:srgbClr val="262626"/>
                </a:solidFill>
              </a:rPr>
              <a:t>IIITA </a:t>
            </a:r>
            <a:r>
              <a:rPr sz="6000" dirty="0">
                <a:solidFill>
                  <a:srgbClr val="262626"/>
                </a:solidFill>
              </a:rPr>
              <a:t>Timetabling</a:t>
            </a:r>
            <a:r>
              <a:rPr sz="6000" spc="-185" dirty="0">
                <a:solidFill>
                  <a:srgbClr val="262626"/>
                </a:solidFill>
              </a:rPr>
              <a:t> </a:t>
            </a:r>
            <a:r>
              <a:rPr sz="6000" spc="-55" dirty="0">
                <a:solidFill>
                  <a:srgbClr val="262626"/>
                </a:solidFill>
              </a:rPr>
              <a:t>System</a:t>
            </a:r>
            <a:endParaRPr sz="6000"/>
          </a:p>
        </p:txBody>
      </p:sp>
      <p:sp>
        <p:nvSpPr>
          <p:cNvPr id="7" name="object 7"/>
          <p:cNvSpPr txBox="1"/>
          <p:nvPr/>
        </p:nvSpPr>
        <p:spPr>
          <a:xfrm>
            <a:off x="959925" y="3301635"/>
            <a:ext cx="2976245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637052"/>
                </a:solidFill>
                <a:latin typeface="Calibri"/>
                <a:cs typeface="Calibri"/>
              </a:rPr>
              <a:t>Group</a:t>
            </a:r>
            <a:r>
              <a:rPr sz="1800" spc="-10" dirty="0">
                <a:solidFill>
                  <a:srgbClr val="637052"/>
                </a:solidFill>
                <a:latin typeface="Calibri"/>
                <a:cs typeface="Calibri"/>
              </a:rPr>
              <a:t>:-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50"/>
              </a:lnSpc>
              <a:spcBef>
                <a:spcPts val="1725"/>
              </a:spcBef>
            </a:pPr>
            <a:r>
              <a:rPr sz="1800" dirty="0">
                <a:solidFill>
                  <a:srgbClr val="637052"/>
                </a:solidFill>
                <a:latin typeface="Calibri"/>
                <a:cs typeface="Calibri"/>
              </a:rPr>
              <a:t>Rahul</a:t>
            </a:r>
            <a:r>
              <a:rPr sz="1800" spc="-50" dirty="0">
                <a:solidFill>
                  <a:srgbClr val="63705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37052"/>
                </a:solidFill>
                <a:latin typeface="Calibri"/>
                <a:cs typeface="Calibri"/>
              </a:rPr>
              <a:t>Roy</a:t>
            </a:r>
            <a:r>
              <a:rPr sz="1800" spc="-45" dirty="0">
                <a:solidFill>
                  <a:srgbClr val="63705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37052"/>
                </a:solidFill>
                <a:latin typeface="Calibri"/>
                <a:cs typeface="Calibri"/>
              </a:rPr>
              <a:t>-</a:t>
            </a:r>
            <a:r>
              <a:rPr sz="1800" spc="-45" dirty="0">
                <a:solidFill>
                  <a:srgbClr val="637052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37052"/>
                </a:solidFill>
                <a:latin typeface="Calibri"/>
                <a:cs typeface="Calibri"/>
              </a:rPr>
              <a:t>IIT2023196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1939"/>
              </a:lnSpc>
              <a:spcBef>
                <a:spcPts val="140"/>
              </a:spcBef>
            </a:pPr>
            <a:r>
              <a:rPr sz="1800" dirty="0">
                <a:solidFill>
                  <a:srgbClr val="637052"/>
                </a:solidFill>
                <a:latin typeface="Calibri"/>
                <a:cs typeface="Calibri"/>
              </a:rPr>
              <a:t>Lakvath</a:t>
            </a:r>
            <a:r>
              <a:rPr sz="1800" spc="-65" dirty="0">
                <a:solidFill>
                  <a:srgbClr val="63705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37052"/>
                </a:solidFill>
                <a:latin typeface="Calibri"/>
                <a:cs typeface="Calibri"/>
              </a:rPr>
              <a:t>Peer</a:t>
            </a:r>
            <a:r>
              <a:rPr sz="1800" spc="-60" dirty="0">
                <a:solidFill>
                  <a:srgbClr val="63705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37052"/>
                </a:solidFill>
                <a:latin typeface="Calibri"/>
                <a:cs typeface="Calibri"/>
              </a:rPr>
              <a:t>Singh</a:t>
            </a:r>
            <a:r>
              <a:rPr sz="1800" spc="-65" dirty="0">
                <a:solidFill>
                  <a:srgbClr val="63705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37052"/>
                </a:solidFill>
                <a:latin typeface="Calibri"/>
                <a:cs typeface="Calibri"/>
              </a:rPr>
              <a:t>-</a:t>
            </a:r>
            <a:r>
              <a:rPr sz="1800" spc="-60" dirty="0">
                <a:solidFill>
                  <a:srgbClr val="637052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37052"/>
                </a:solidFill>
                <a:latin typeface="Calibri"/>
                <a:cs typeface="Calibri"/>
              </a:rPr>
              <a:t>IIT2023197 </a:t>
            </a:r>
            <a:r>
              <a:rPr sz="1800" dirty="0">
                <a:solidFill>
                  <a:srgbClr val="637052"/>
                </a:solidFill>
                <a:latin typeface="Calibri"/>
                <a:cs typeface="Calibri"/>
              </a:rPr>
              <a:t>Eshant</a:t>
            </a:r>
            <a:r>
              <a:rPr sz="1800" spc="-50" dirty="0">
                <a:solidFill>
                  <a:srgbClr val="63705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37052"/>
                </a:solidFill>
                <a:latin typeface="Calibri"/>
                <a:cs typeface="Calibri"/>
              </a:rPr>
              <a:t>-</a:t>
            </a:r>
            <a:r>
              <a:rPr sz="1800" spc="-45" dirty="0">
                <a:solidFill>
                  <a:srgbClr val="637052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37052"/>
                </a:solidFill>
                <a:latin typeface="Calibri"/>
                <a:cs typeface="Calibri"/>
              </a:rPr>
              <a:t>IIT2023198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7050" y="220423"/>
            <a:ext cx="2171699" cy="1975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B45F06"/>
                </a:solidFill>
              </a:rPr>
              <a:t>Problem</a:t>
            </a:r>
            <a:r>
              <a:rPr spc="-100" dirty="0">
                <a:solidFill>
                  <a:srgbClr val="B45F06"/>
                </a:solidFill>
              </a:rPr>
              <a:t> </a:t>
            </a:r>
            <a:r>
              <a:rPr spc="-10" dirty="0">
                <a:solidFill>
                  <a:srgbClr val="B45F06"/>
                </a:solidFill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760" y="1545590"/>
            <a:ext cx="7376795" cy="256540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Core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Problem: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University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timetabling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is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complex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matching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problem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classified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as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NP-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hard.</a:t>
            </a:r>
            <a:endParaRPr sz="1500">
              <a:latin typeface="Calibri"/>
              <a:cs typeface="Calibri"/>
            </a:endParaRPr>
          </a:p>
          <a:p>
            <a:pPr marL="406400" marR="202565" indent="-336550">
              <a:lnSpc>
                <a:spcPct val="15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06400" algn="l"/>
              </a:tabLst>
            </a:pP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This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means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finding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perfect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solution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is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too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slow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for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large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schedules,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so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we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use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heuristic algorithms instead.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Clr>
                <a:srgbClr val="E48312"/>
              </a:buClr>
              <a:buFont typeface="Microsoft Sans Serif"/>
              <a:buChar char="●"/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Mathematical</a:t>
            </a:r>
            <a:r>
              <a:rPr sz="15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Objective:</a:t>
            </a:r>
            <a:r>
              <a:rPr sz="1500" b="1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Minimize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cost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function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F(x)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where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H(x)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=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(hard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constraints)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3E3E3E"/>
                </a:solidFill>
                <a:latin typeface="Calibri"/>
                <a:cs typeface="Calibri"/>
              </a:rPr>
              <a:t>S(x)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&gt;=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min</a:t>
            </a:r>
            <a:r>
              <a:rPr sz="1500" b="1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(soft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constraints).</a:t>
            </a:r>
            <a:endParaRPr sz="1500">
              <a:latin typeface="Calibri"/>
              <a:cs typeface="Calibri"/>
            </a:endParaRPr>
          </a:p>
          <a:p>
            <a:pPr marL="405765" indent="-335915">
              <a:lnSpc>
                <a:spcPct val="100000"/>
              </a:lnSpc>
              <a:spcBef>
                <a:spcPts val="900"/>
              </a:spcBef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05765" algn="l"/>
              </a:tabLst>
            </a:pP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Hard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constraints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are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strict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rules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that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must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never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be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broken.</a:t>
            </a:r>
            <a:endParaRPr sz="1500">
              <a:latin typeface="Calibri"/>
              <a:cs typeface="Calibri"/>
            </a:endParaRPr>
          </a:p>
          <a:p>
            <a:pPr marL="405765" indent="-335915">
              <a:lnSpc>
                <a:spcPct val="100000"/>
              </a:lnSpc>
              <a:spcBef>
                <a:spcPts val="900"/>
              </a:spcBef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05765" algn="l"/>
              </a:tabLst>
            </a:pP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Soft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constraints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improve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schedule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quality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but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are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not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strictly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required.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Formulation</a:t>
            </a:r>
            <a:r>
              <a:rPr spc="-8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Hard</a:t>
            </a:r>
            <a:r>
              <a:rPr spc="-7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859" y="1352550"/>
            <a:ext cx="7520305" cy="3077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solver</a:t>
            </a:r>
            <a:r>
              <a:rPr spc="-30" dirty="0"/>
              <a:t> </a:t>
            </a:r>
            <a:r>
              <a:rPr spc="-10" dirty="0"/>
              <a:t>evaluates</a:t>
            </a:r>
            <a:r>
              <a:rPr spc="-30" dirty="0"/>
              <a:t> </a:t>
            </a:r>
            <a:r>
              <a:rPr dirty="0"/>
              <a:t>fitness</a:t>
            </a:r>
            <a:r>
              <a:rPr spc="-30" dirty="0"/>
              <a:t> </a:t>
            </a: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scalarized</a:t>
            </a:r>
            <a:r>
              <a:rPr spc="-30" dirty="0"/>
              <a:t> </a:t>
            </a:r>
            <a:r>
              <a:rPr dirty="0"/>
              <a:t>penalty</a:t>
            </a:r>
            <a:r>
              <a:rPr spc="-30" dirty="0"/>
              <a:t> </a:t>
            </a:r>
            <a:r>
              <a:rPr spc="-10" dirty="0"/>
              <a:t>function:</a:t>
            </a:r>
          </a:p>
          <a:p>
            <a:pPr marL="50800">
              <a:lnSpc>
                <a:spcPts val="1430"/>
              </a:lnSpc>
              <a:spcBef>
                <a:spcPts val="1200"/>
              </a:spcBef>
              <a:tabLst>
                <a:tab pos="1258570" algn="l"/>
                <a:tab pos="1782445" algn="l"/>
                <a:tab pos="2701290" algn="l"/>
                <a:tab pos="3143250" algn="l"/>
              </a:tabLst>
            </a:pPr>
            <a:r>
              <a:rPr b="1" dirty="0">
                <a:latin typeface="Calibri"/>
                <a:cs typeface="Calibri"/>
              </a:rPr>
              <a:t>P(S)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=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Arial"/>
                <a:cs typeface="Arial"/>
              </a:rPr>
              <a:t>Σ</a:t>
            </a:r>
            <a:r>
              <a:rPr b="1" spc="-90" dirty="0">
                <a:latin typeface="Arial"/>
                <a:cs typeface="Arial"/>
              </a:rPr>
              <a:t> </a:t>
            </a:r>
            <a:r>
              <a:rPr b="1" spc="-25" dirty="0">
                <a:latin typeface="Calibri"/>
                <a:cs typeface="Calibri"/>
              </a:rPr>
              <a:t>(W</a:t>
            </a:r>
            <a:r>
              <a:rPr b="1" dirty="0">
                <a:latin typeface="Calibri"/>
                <a:cs typeface="Calibri"/>
              </a:rPr>
              <a:t>	*</a:t>
            </a:r>
            <a:r>
              <a:rPr b="1" spc="32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C</a:t>
            </a:r>
            <a:r>
              <a:rPr b="1" dirty="0">
                <a:latin typeface="Calibri"/>
                <a:cs typeface="Calibri"/>
              </a:rPr>
              <a:t>	)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+ </a:t>
            </a:r>
            <a:r>
              <a:rPr b="1" dirty="0">
                <a:latin typeface="Arial"/>
                <a:cs typeface="Arial"/>
              </a:rPr>
              <a:t>Σ</a:t>
            </a:r>
            <a:r>
              <a:rPr b="1" spc="250" dirty="0">
                <a:latin typeface="Arial"/>
                <a:cs typeface="Arial"/>
              </a:rPr>
              <a:t> </a:t>
            </a:r>
            <a:r>
              <a:rPr b="1" spc="-25" dirty="0">
                <a:latin typeface="Calibri"/>
                <a:cs typeface="Calibri"/>
              </a:rPr>
              <a:t>(W</a:t>
            </a:r>
            <a:r>
              <a:rPr b="1" dirty="0">
                <a:latin typeface="Calibri"/>
                <a:cs typeface="Calibri"/>
              </a:rPr>
              <a:t>	*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C</a:t>
            </a:r>
            <a:r>
              <a:rPr b="1" dirty="0">
                <a:latin typeface="Calibri"/>
                <a:cs typeface="Calibri"/>
              </a:rPr>
              <a:t>	</a:t>
            </a:r>
            <a:r>
              <a:rPr b="1" spc="-50" dirty="0">
                <a:latin typeface="Calibri"/>
                <a:cs typeface="Calibri"/>
              </a:rPr>
              <a:t>)</a:t>
            </a:r>
          </a:p>
          <a:p>
            <a:pPr marL="930910">
              <a:lnSpc>
                <a:spcPts val="830"/>
              </a:lnSpc>
              <a:tabLst>
                <a:tab pos="1540510" algn="l"/>
                <a:tab pos="2454910" algn="l"/>
                <a:tab pos="2940050" algn="l"/>
              </a:tabLst>
            </a:pPr>
            <a:r>
              <a:rPr sz="1000" b="1" spc="-20" dirty="0">
                <a:latin typeface="Calibri"/>
                <a:cs typeface="Calibri"/>
              </a:rPr>
              <a:t>hard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hard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soft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soft</a:t>
            </a:r>
            <a:endParaRPr sz="1000" dirty="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735"/>
              </a:spcBef>
            </a:pPr>
            <a:r>
              <a:rPr b="1" dirty="0">
                <a:latin typeface="Calibri"/>
                <a:cs typeface="Calibri"/>
              </a:rPr>
              <a:t>Hard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Constraints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(W</a:t>
            </a:r>
            <a:r>
              <a:rPr sz="1500" b="1" baseline="-30555" dirty="0">
                <a:latin typeface="Calibri"/>
                <a:cs typeface="Calibri"/>
              </a:rPr>
              <a:t>hard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5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1000):</a:t>
            </a:r>
            <a:endParaRPr sz="1500" dirty="0">
              <a:latin typeface="Calibri"/>
              <a:cs typeface="Calibri"/>
            </a:endParaRPr>
          </a:p>
          <a:p>
            <a:pPr marL="507365" indent="-335915">
              <a:lnSpc>
                <a:spcPct val="100000"/>
              </a:lnSpc>
              <a:spcBef>
                <a:spcPts val="1200"/>
              </a:spcBef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b="1" dirty="0">
                <a:latin typeface="Calibri"/>
                <a:cs typeface="Calibri"/>
              </a:rPr>
              <a:t>Time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boundaries: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lang="en-US" spc="-10" dirty="0"/>
              <a:t>A session must absolutely not exceed the final slot of the day.               </a:t>
            </a:r>
            <a:r>
              <a:rPr lang="en-US" spc="-10" dirty="0" err="1"/>
              <a:t>endSlot</a:t>
            </a:r>
            <a:r>
              <a:rPr lang="en-US" spc="-10" dirty="0"/>
              <a:t> = </a:t>
            </a:r>
            <a:r>
              <a:rPr lang="en-US" spc="-10" dirty="0" err="1"/>
              <a:t>startSlot</a:t>
            </a:r>
            <a:r>
              <a:rPr lang="en-US" spc="-10" dirty="0"/>
              <a:t> + duration - 1 must be ≤ 8 (18:30).</a:t>
            </a:r>
          </a:p>
          <a:p>
            <a:pPr marL="507365" indent="-335915">
              <a:lnSpc>
                <a:spcPct val="100000"/>
              </a:lnSpc>
              <a:spcBef>
                <a:spcPts val="1200"/>
              </a:spcBef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lang="en-IN" b="1" dirty="0"/>
              <a:t>BREAK / LUNCH CROSSING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lang="en-US" dirty="0"/>
              <a:t>A continuous multi-slot session (like a 2-hour lab) must NOT                span across a structural break.   </a:t>
            </a:r>
          </a:p>
          <a:p>
            <a:pPr marL="171450">
              <a:lnSpc>
                <a:spcPct val="100000"/>
              </a:lnSpc>
              <a:spcBef>
                <a:spcPts val="1200"/>
              </a:spcBef>
              <a:buClr>
                <a:srgbClr val="E48312"/>
              </a:buClr>
              <a:buSzPct val="93333"/>
              <a:tabLst>
                <a:tab pos="507365" algn="l"/>
              </a:tabLst>
            </a:pPr>
            <a:r>
              <a:rPr lang="en-US" dirty="0"/>
              <a:t>	- Slot 2 → Slot 3  (10:50 – 11:00 break)  • Slot 4 → Slot 5  (13:00 – 14:30 lunch)</a:t>
            </a:r>
            <a:r>
              <a:rPr lang="en-US" spc="-10" dirty="0"/>
              <a:t>.</a:t>
            </a:r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lang="en-IN" b="1" spc="-10" dirty="0"/>
              <a:t>ROOM NON-OVERLAP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lang="en-US" dirty="0"/>
              <a:t>A physical room can host at most ONE session at any (day, slot).               Multiple sessions placed in the same room simultaneously cause clashes.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60AA-D300-90CD-6C15-8F2A9C35E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2BA3BAC-505E-3BD1-7E06-46DF72E2A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Formulation</a:t>
            </a:r>
            <a:r>
              <a:rPr spc="-8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Hard</a:t>
            </a:r>
            <a:r>
              <a:rPr spc="-7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808DDDF-B5EA-6D68-31FE-E659CC40AB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1352550"/>
            <a:ext cx="7520305" cy="31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solver</a:t>
            </a:r>
            <a:r>
              <a:rPr spc="-30" dirty="0"/>
              <a:t> </a:t>
            </a:r>
            <a:r>
              <a:rPr spc="-10" dirty="0"/>
              <a:t>evaluates</a:t>
            </a:r>
            <a:r>
              <a:rPr spc="-30" dirty="0"/>
              <a:t> </a:t>
            </a:r>
            <a:r>
              <a:rPr dirty="0"/>
              <a:t>fitness</a:t>
            </a:r>
            <a:r>
              <a:rPr spc="-30" dirty="0"/>
              <a:t> </a:t>
            </a: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scalarized</a:t>
            </a:r>
            <a:r>
              <a:rPr spc="-30" dirty="0"/>
              <a:t> </a:t>
            </a:r>
            <a:r>
              <a:rPr dirty="0"/>
              <a:t>penalty</a:t>
            </a:r>
            <a:r>
              <a:rPr spc="-30" dirty="0"/>
              <a:t> </a:t>
            </a:r>
            <a:r>
              <a:rPr spc="-10" dirty="0"/>
              <a:t>function:</a:t>
            </a:r>
          </a:p>
          <a:p>
            <a:pPr marL="50800">
              <a:lnSpc>
                <a:spcPts val="1430"/>
              </a:lnSpc>
              <a:spcBef>
                <a:spcPts val="1200"/>
              </a:spcBef>
              <a:tabLst>
                <a:tab pos="1258570" algn="l"/>
                <a:tab pos="1782445" algn="l"/>
                <a:tab pos="2701290" algn="l"/>
                <a:tab pos="3143250" algn="l"/>
              </a:tabLst>
            </a:pPr>
            <a:r>
              <a:rPr b="1" dirty="0">
                <a:latin typeface="Calibri"/>
                <a:cs typeface="Calibri"/>
              </a:rPr>
              <a:t>P(S)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=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Arial"/>
                <a:cs typeface="Arial"/>
              </a:rPr>
              <a:t>Σ</a:t>
            </a:r>
            <a:r>
              <a:rPr b="1" spc="-90" dirty="0">
                <a:latin typeface="Arial"/>
                <a:cs typeface="Arial"/>
              </a:rPr>
              <a:t> </a:t>
            </a:r>
            <a:r>
              <a:rPr b="1" spc="-25" dirty="0">
                <a:latin typeface="Calibri"/>
                <a:cs typeface="Calibri"/>
              </a:rPr>
              <a:t>(W</a:t>
            </a:r>
            <a:r>
              <a:rPr b="1" dirty="0">
                <a:latin typeface="Calibri"/>
                <a:cs typeface="Calibri"/>
              </a:rPr>
              <a:t>	*</a:t>
            </a:r>
            <a:r>
              <a:rPr b="1" spc="32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C</a:t>
            </a:r>
            <a:r>
              <a:rPr b="1" dirty="0">
                <a:latin typeface="Calibri"/>
                <a:cs typeface="Calibri"/>
              </a:rPr>
              <a:t>	)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+ </a:t>
            </a:r>
            <a:r>
              <a:rPr b="1" dirty="0">
                <a:latin typeface="Arial"/>
                <a:cs typeface="Arial"/>
              </a:rPr>
              <a:t>Σ</a:t>
            </a:r>
            <a:r>
              <a:rPr b="1" spc="250" dirty="0">
                <a:latin typeface="Arial"/>
                <a:cs typeface="Arial"/>
              </a:rPr>
              <a:t> </a:t>
            </a:r>
            <a:r>
              <a:rPr b="1" spc="-25" dirty="0">
                <a:latin typeface="Calibri"/>
                <a:cs typeface="Calibri"/>
              </a:rPr>
              <a:t>(W</a:t>
            </a:r>
            <a:r>
              <a:rPr b="1" dirty="0">
                <a:latin typeface="Calibri"/>
                <a:cs typeface="Calibri"/>
              </a:rPr>
              <a:t>	*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C</a:t>
            </a:r>
            <a:r>
              <a:rPr b="1" dirty="0">
                <a:latin typeface="Calibri"/>
                <a:cs typeface="Calibri"/>
              </a:rPr>
              <a:t>	</a:t>
            </a:r>
            <a:r>
              <a:rPr b="1" spc="-50" dirty="0">
                <a:latin typeface="Calibri"/>
                <a:cs typeface="Calibri"/>
              </a:rPr>
              <a:t>)</a:t>
            </a:r>
          </a:p>
          <a:p>
            <a:pPr marL="930910">
              <a:lnSpc>
                <a:spcPts val="830"/>
              </a:lnSpc>
              <a:tabLst>
                <a:tab pos="1540510" algn="l"/>
                <a:tab pos="2454910" algn="l"/>
                <a:tab pos="2940050" algn="l"/>
              </a:tabLst>
            </a:pPr>
            <a:r>
              <a:rPr sz="1000" b="1" spc="-20" dirty="0">
                <a:latin typeface="Calibri"/>
                <a:cs typeface="Calibri"/>
              </a:rPr>
              <a:t>hard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hard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soft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soft</a:t>
            </a:r>
            <a:endParaRPr sz="1000" dirty="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735"/>
              </a:spcBef>
            </a:pPr>
            <a:r>
              <a:rPr b="1" dirty="0">
                <a:latin typeface="Calibri"/>
                <a:cs typeface="Calibri"/>
              </a:rPr>
              <a:t>Hard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Constraints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(W</a:t>
            </a:r>
            <a:r>
              <a:rPr sz="1500" b="1" baseline="-30555" dirty="0">
                <a:latin typeface="Calibri"/>
                <a:cs typeface="Calibri"/>
              </a:rPr>
              <a:t>hard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5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1000):</a:t>
            </a:r>
            <a:endParaRPr sz="1500" dirty="0">
              <a:latin typeface="Calibri"/>
              <a:cs typeface="Calibri"/>
            </a:endParaRPr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lang="en-US" b="1" dirty="0"/>
              <a:t>PROFESSOR NON-OVERLAP:</a:t>
            </a:r>
            <a:r>
              <a:rPr lang="en-US" b="1" spc="-30" dirty="0"/>
              <a:t> </a:t>
            </a:r>
            <a:r>
              <a:rPr lang="en-US" dirty="0"/>
              <a:t> A distinct professor can teach at most ONE session at any (day, slot).</a:t>
            </a:r>
            <a:endParaRPr lang="en-US" spc="-10" dirty="0"/>
          </a:p>
          <a:p>
            <a:pPr marL="507365" indent="-335915">
              <a:lnSpc>
                <a:spcPct val="100000"/>
              </a:lnSpc>
              <a:spcBef>
                <a:spcPts val="1200"/>
              </a:spcBef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lang="en-IN" b="1" dirty="0"/>
              <a:t>STUDENT GROUP (SECTION) NON-OVERLAP: </a:t>
            </a:r>
            <a:r>
              <a:rPr lang="en-US" dirty="0"/>
              <a:t> A specific section of students can attend at most ONE session at any given (day, slot). </a:t>
            </a:r>
          </a:p>
          <a:p>
            <a:pPr marL="171450">
              <a:lnSpc>
                <a:spcPct val="100000"/>
              </a:lnSpc>
              <a:spcBef>
                <a:spcPts val="1200"/>
              </a:spcBef>
              <a:buClr>
                <a:srgbClr val="E48312"/>
              </a:buClr>
              <a:buSzPct val="93333"/>
              <a:tabLst>
                <a:tab pos="507365" algn="l"/>
              </a:tabLst>
            </a:pPr>
            <a:r>
              <a:rPr lang="en-US" b="1" dirty="0"/>
              <a:t>		Exception</a:t>
            </a:r>
            <a:r>
              <a:rPr lang="en-US" dirty="0"/>
              <a:t>: Sessions from the SAME basket (Synced or Free) are allowed to overlap                 		because students pick only one subject per basket.</a:t>
            </a:r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lang="en-US" b="1" spc="-10" dirty="0"/>
              <a:t>HOME ROOM FOR LECTURES/TUTORIALS : </a:t>
            </a:r>
            <a:r>
              <a:rPr lang="en-US" spc="-10" dirty="0"/>
              <a:t>Core lectures and tutorials MUST occur in the designated 'Home Room'. (</a:t>
            </a:r>
            <a:r>
              <a:rPr lang="en-US" spc="-10" dirty="0" err="1"/>
              <a:t>Practicals</a:t>
            </a:r>
            <a:r>
              <a:rPr lang="en-US" spc="-10" dirty="0"/>
              <a:t> and Electives are exempt).</a:t>
            </a:r>
          </a:p>
        </p:txBody>
      </p:sp>
    </p:spTree>
    <p:extLst>
      <p:ext uri="{BB962C8B-B14F-4D97-AF65-F5344CB8AC3E}">
        <p14:creationId xmlns:p14="http://schemas.microsoft.com/office/powerpoint/2010/main" val="3908553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67FF6-EEE1-F2B3-9BEE-43A7054E2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2EAA2B3-7CDD-9D6A-A7B4-E9B789BBC8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Formulation</a:t>
            </a:r>
            <a:r>
              <a:rPr spc="-8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Hard</a:t>
            </a:r>
            <a:r>
              <a:rPr spc="-7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FEE6040-5388-699C-25BA-23ECDA6360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1352550"/>
            <a:ext cx="7520305" cy="3354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solver</a:t>
            </a:r>
            <a:r>
              <a:rPr spc="-30" dirty="0"/>
              <a:t> </a:t>
            </a:r>
            <a:r>
              <a:rPr spc="-10" dirty="0"/>
              <a:t>evaluates</a:t>
            </a:r>
            <a:r>
              <a:rPr spc="-30" dirty="0"/>
              <a:t> </a:t>
            </a:r>
            <a:r>
              <a:rPr dirty="0"/>
              <a:t>fitness</a:t>
            </a:r>
            <a:r>
              <a:rPr spc="-30" dirty="0"/>
              <a:t> </a:t>
            </a: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scalarized</a:t>
            </a:r>
            <a:r>
              <a:rPr spc="-30" dirty="0"/>
              <a:t> </a:t>
            </a:r>
            <a:r>
              <a:rPr dirty="0"/>
              <a:t>penalty</a:t>
            </a:r>
            <a:r>
              <a:rPr spc="-30" dirty="0"/>
              <a:t> </a:t>
            </a:r>
            <a:r>
              <a:rPr spc="-10" dirty="0"/>
              <a:t>function:</a:t>
            </a:r>
          </a:p>
          <a:p>
            <a:pPr marL="50800">
              <a:lnSpc>
                <a:spcPts val="1430"/>
              </a:lnSpc>
              <a:spcBef>
                <a:spcPts val="1200"/>
              </a:spcBef>
              <a:tabLst>
                <a:tab pos="1258570" algn="l"/>
                <a:tab pos="1782445" algn="l"/>
                <a:tab pos="2701290" algn="l"/>
                <a:tab pos="3143250" algn="l"/>
              </a:tabLst>
            </a:pPr>
            <a:r>
              <a:rPr b="1" dirty="0">
                <a:latin typeface="Calibri"/>
                <a:cs typeface="Calibri"/>
              </a:rPr>
              <a:t>P(S)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=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Arial"/>
                <a:cs typeface="Arial"/>
              </a:rPr>
              <a:t>Σ</a:t>
            </a:r>
            <a:r>
              <a:rPr b="1" spc="-90" dirty="0">
                <a:latin typeface="Arial"/>
                <a:cs typeface="Arial"/>
              </a:rPr>
              <a:t> </a:t>
            </a:r>
            <a:r>
              <a:rPr b="1" spc="-25" dirty="0">
                <a:latin typeface="Calibri"/>
                <a:cs typeface="Calibri"/>
              </a:rPr>
              <a:t>(W</a:t>
            </a:r>
            <a:r>
              <a:rPr b="1" dirty="0">
                <a:latin typeface="Calibri"/>
                <a:cs typeface="Calibri"/>
              </a:rPr>
              <a:t>	*</a:t>
            </a:r>
            <a:r>
              <a:rPr b="1" spc="32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C</a:t>
            </a:r>
            <a:r>
              <a:rPr b="1" dirty="0">
                <a:latin typeface="Calibri"/>
                <a:cs typeface="Calibri"/>
              </a:rPr>
              <a:t>	)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+ </a:t>
            </a:r>
            <a:r>
              <a:rPr b="1" dirty="0">
                <a:latin typeface="Arial"/>
                <a:cs typeface="Arial"/>
              </a:rPr>
              <a:t>Σ</a:t>
            </a:r>
            <a:r>
              <a:rPr b="1" spc="250" dirty="0">
                <a:latin typeface="Arial"/>
                <a:cs typeface="Arial"/>
              </a:rPr>
              <a:t> </a:t>
            </a:r>
            <a:r>
              <a:rPr b="1" spc="-25" dirty="0">
                <a:latin typeface="Calibri"/>
                <a:cs typeface="Calibri"/>
              </a:rPr>
              <a:t>(W</a:t>
            </a:r>
            <a:r>
              <a:rPr b="1" dirty="0">
                <a:latin typeface="Calibri"/>
                <a:cs typeface="Calibri"/>
              </a:rPr>
              <a:t>	*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C</a:t>
            </a:r>
            <a:r>
              <a:rPr b="1" dirty="0">
                <a:latin typeface="Calibri"/>
                <a:cs typeface="Calibri"/>
              </a:rPr>
              <a:t>	</a:t>
            </a:r>
            <a:r>
              <a:rPr b="1" spc="-50" dirty="0">
                <a:latin typeface="Calibri"/>
                <a:cs typeface="Calibri"/>
              </a:rPr>
              <a:t>)</a:t>
            </a:r>
          </a:p>
          <a:p>
            <a:pPr marL="930910">
              <a:lnSpc>
                <a:spcPts val="830"/>
              </a:lnSpc>
              <a:tabLst>
                <a:tab pos="1540510" algn="l"/>
                <a:tab pos="2454910" algn="l"/>
                <a:tab pos="2940050" algn="l"/>
              </a:tabLst>
            </a:pPr>
            <a:r>
              <a:rPr sz="1000" b="1" spc="-20" dirty="0">
                <a:latin typeface="Calibri"/>
                <a:cs typeface="Calibri"/>
              </a:rPr>
              <a:t>hard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hard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soft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soft</a:t>
            </a:r>
            <a:endParaRPr sz="1000" dirty="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735"/>
              </a:spcBef>
            </a:pPr>
            <a:r>
              <a:rPr b="1" dirty="0">
                <a:latin typeface="Calibri"/>
                <a:cs typeface="Calibri"/>
              </a:rPr>
              <a:t>Hard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Constraints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(W</a:t>
            </a:r>
            <a:r>
              <a:rPr sz="1500" b="1" baseline="-30555" dirty="0">
                <a:latin typeface="Calibri"/>
                <a:cs typeface="Calibri"/>
              </a:rPr>
              <a:t>hard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5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1000):</a:t>
            </a:r>
            <a:endParaRPr sz="1500" dirty="0">
              <a:latin typeface="Calibri"/>
              <a:cs typeface="Calibri"/>
            </a:endParaRPr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lang="en-US" b="1" dirty="0"/>
              <a:t> </a:t>
            </a:r>
            <a:r>
              <a:rPr lang="en-IN" b="1" spc="-10" dirty="0"/>
              <a:t>ELECTIVE RULES &amp; SYNCHRONIZATION </a:t>
            </a:r>
            <a:r>
              <a:rPr lang="en-US" b="1" dirty="0"/>
              <a:t>Exception</a:t>
            </a:r>
            <a:r>
              <a:rPr lang="en-US" dirty="0"/>
              <a:t>: </a:t>
            </a:r>
          </a:p>
          <a:p>
            <a:pPr marL="964565" lvl="1" indent="-335915">
              <a:buClr>
                <a:srgbClr val="E48312"/>
              </a:buClr>
              <a:buSzPct val="93333"/>
              <a:buFont typeface="Arial" panose="020B0604020202020204" pitchFamily="34" charset="0"/>
              <a:buChar char="•"/>
              <a:tabLst>
                <a:tab pos="507365" algn="l"/>
              </a:tabLst>
            </a:pPr>
            <a:r>
              <a:rPr lang="en-US" dirty="0"/>
              <a:t>Rule A (Sync): All sessions in a "Synced Basket" (e.g., HSMC,MDM) MUST be scheduled at the exact same (day, slot).    </a:t>
            </a:r>
          </a:p>
          <a:p>
            <a:pPr marL="964565" lvl="1" indent="-335915">
              <a:buClr>
                <a:srgbClr val="E48312"/>
              </a:buClr>
              <a:buSzPct val="93333"/>
              <a:buFont typeface="Arial" panose="020B0604020202020204" pitchFamily="34" charset="0"/>
              <a:buChar char="•"/>
              <a:tabLst>
                <a:tab pos="507365" algn="l"/>
              </a:tabLst>
            </a:pPr>
            <a:r>
              <a:rPr lang="en-US" dirty="0"/>
              <a:t> Rule B (Free): Electives in "Free Baskets" can be scheduled independently.  </a:t>
            </a:r>
          </a:p>
          <a:p>
            <a:pPr marL="964565" lvl="1" indent="-335915">
              <a:buClr>
                <a:srgbClr val="E48312"/>
              </a:buClr>
              <a:buSzPct val="93333"/>
              <a:buFont typeface="Arial" panose="020B0604020202020204" pitchFamily="34" charset="0"/>
              <a:buChar char="•"/>
              <a:tabLst>
                <a:tab pos="507365" algn="l"/>
              </a:tabLst>
            </a:pPr>
            <a:r>
              <a:rPr lang="en-US" dirty="0"/>
              <a:t>Rule C (Anti-Clash): Sessions from DIFFERENT baskets must never overlap, ensuring students can pick one from each without conflict.</a:t>
            </a:r>
            <a:endParaRPr lang="en-US" spc="-10" dirty="0"/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lang="en-IN" b="1" spc="-10" dirty="0"/>
              <a:t>LAB ROOM FOR PRACTICALS 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lang="en-US" dirty="0"/>
              <a:t>Practical sessions MUST be assigned to rooms with  </a:t>
            </a:r>
            <a:r>
              <a:rPr lang="en-US" dirty="0" err="1"/>
              <a:t>room_type</a:t>
            </a:r>
            <a:r>
              <a:rPr lang="en-US" dirty="0"/>
              <a:t> 'Lab'. 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1602028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B06D7-DA3D-5CA1-603C-6DE7B3F9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20F05E7-4BA0-BD33-7273-2555DB573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Formulation</a:t>
            </a:r>
            <a:r>
              <a:rPr spc="-8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Hard</a:t>
            </a:r>
            <a:r>
              <a:rPr spc="-7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E060FE0-8936-EA57-8B98-BC1FA29343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1352550"/>
            <a:ext cx="7520305" cy="2936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solver</a:t>
            </a:r>
            <a:r>
              <a:rPr spc="-30" dirty="0"/>
              <a:t> </a:t>
            </a:r>
            <a:r>
              <a:rPr spc="-10" dirty="0"/>
              <a:t>evaluates</a:t>
            </a:r>
            <a:r>
              <a:rPr spc="-30" dirty="0"/>
              <a:t> </a:t>
            </a:r>
            <a:r>
              <a:rPr dirty="0"/>
              <a:t>fitness</a:t>
            </a:r>
            <a:r>
              <a:rPr spc="-30" dirty="0"/>
              <a:t> </a:t>
            </a: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scalarized</a:t>
            </a:r>
            <a:r>
              <a:rPr spc="-30" dirty="0"/>
              <a:t> </a:t>
            </a:r>
            <a:r>
              <a:rPr dirty="0"/>
              <a:t>penalty</a:t>
            </a:r>
            <a:r>
              <a:rPr spc="-30" dirty="0"/>
              <a:t> </a:t>
            </a:r>
            <a:r>
              <a:rPr spc="-10" dirty="0"/>
              <a:t>function:</a:t>
            </a:r>
          </a:p>
          <a:p>
            <a:pPr marL="50800">
              <a:lnSpc>
                <a:spcPts val="1430"/>
              </a:lnSpc>
              <a:spcBef>
                <a:spcPts val="1200"/>
              </a:spcBef>
              <a:tabLst>
                <a:tab pos="1258570" algn="l"/>
                <a:tab pos="1782445" algn="l"/>
                <a:tab pos="2701290" algn="l"/>
                <a:tab pos="3143250" algn="l"/>
              </a:tabLst>
            </a:pPr>
            <a:r>
              <a:rPr b="1" dirty="0">
                <a:latin typeface="Calibri"/>
                <a:cs typeface="Calibri"/>
              </a:rPr>
              <a:t>P(S)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=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Arial"/>
                <a:cs typeface="Arial"/>
              </a:rPr>
              <a:t>Σ</a:t>
            </a:r>
            <a:r>
              <a:rPr b="1" spc="-90" dirty="0">
                <a:latin typeface="Arial"/>
                <a:cs typeface="Arial"/>
              </a:rPr>
              <a:t> </a:t>
            </a:r>
            <a:r>
              <a:rPr b="1" spc="-25" dirty="0">
                <a:latin typeface="Calibri"/>
                <a:cs typeface="Calibri"/>
              </a:rPr>
              <a:t>(W</a:t>
            </a:r>
            <a:r>
              <a:rPr b="1" dirty="0">
                <a:latin typeface="Calibri"/>
                <a:cs typeface="Calibri"/>
              </a:rPr>
              <a:t>	*</a:t>
            </a:r>
            <a:r>
              <a:rPr b="1" spc="320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C</a:t>
            </a:r>
            <a:r>
              <a:rPr b="1" dirty="0">
                <a:latin typeface="Calibri"/>
                <a:cs typeface="Calibri"/>
              </a:rPr>
              <a:t>	)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+ </a:t>
            </a:r>
            <a:r>
              <a:rPr b="1" dirty="0">
                <a:latin typeface="Arial"/>
                <a:cs typeface="Arial"/>
              </a:rPr>
              <a:t>Σ</a:t>
            </a:r>
            <a:r>
              <a:rPr b="1" spc="250" dirty="0">
                <a:latin typeface="Arial"/>
                <a:cs typeface="Arial"/>
              </a:rPr>
              <a:t> </a:t>
            </a:r>
            <a:r>
              <a:rPr b="1" spc="-25" dirty="0">
                <a:latin typeface="Calibri"/>
                <a:cs typeface="Calibri"/>
              </a:rPr>
              <a:t>(W</a:t>
            </a:r>
            <a:r>
              <a:rPr b="1" dirty="0">
                <a:latin typeface="Calibri"/>
                <a:cs typeface="Calibri"/>
              </a:rPr>
              <a:t>	*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spc="-50" dirty="0">
                <a:latin typeface="Calibri"/>
                <a:cs typeface="Calibri"/>
              </a:rPr>
              <a:t>C</a:t>
            </a:r>
            <a:r>
              <a:rPr b="1" dirty="0">
                <a:latin typeface="Calibri"/>
                <a:cs typeface="Calibri"/>
              </a:rPr>
              <a:t>	</a:t>
            </a:r>
            <a:r>
              <a:rPr b="1" spc="-50" dirty="0">
                <a:latin typeface="Calibri"/>
                <a:cs typeface="Calibri"/>
              </a:rPr>
              <a:t>)</a:t>
            </a:r>
          </a:p>
          <a:p>
            <a:pPr marL="930910">
              <a:lnSpc>
                <a:spcPts val="830"/>
              </a:lnSpc>
              <a:tabLst>
                <a:tab pos="1540510" algn="l"/>
                <a:tab pos="2454910" algn="l"/>
                <a:tab pos="2940050" algn="l"/>
              </a:tabLst>
            </a:pPr>
            <a:r>
              <a:rPr sz="1000" b="1" spc="-20" dirty="0">
                <a:latin typeface="Calibri"/>
                <a:cs typeface="Calibri"/>
              </a:rPr>
              <a:t>hard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hard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soft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soft</a:t>
            </a:r>
            <a:endParaRPr sz="1000" dirty="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735"/>
              </a:spcBef>
            </a:pPr>
            <a:r>
              <a:rPr b="1" dirty="0">
                <a:latin typeface="Calibri"/>
                <a:cs typeface="Calibri"/>
              </a:rPr>
              <a:t>Hard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Constraints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(W</a:t>
            </a:r>
            <a:r>
              <a:rPr sz="1500" b="1" baseline="-30555" dirty="0">
                <a:latin typeface="Calibri"/>
                <a:cs typeface="Calibri"/>
              </a:rPr>
              <a:t>hard</a:t>
            </a:r>
            <a:r>
              <a:rPr sz="1500" b="1" dirty="0">
                <a:latin typeface="Calibri"/>
                <a:cs typeface="Calibri"/>
              </a:rPr>
              <a:t>=</a:t>
            </a:r>
            <a:r>
              <a:rPr sz="1500" b="1" spc="-5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1000):</a:t>
            </a:r>
            <a:endParaRPr lang="en-IN" sz="1500" b="1" spc="-10" dirty="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735"/>
              </a:spcBef>
            </a:pPr>
            <a:endParaRPr sz="1500" dirty="0">
              <a:latin typeface="Calibri"/>
              <a:cs typeface="Calibri"/>
            </a:endParaRPr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lang="en-US" b="1" dirty="0"/>
              <a:t> </a:t>
            </a:r>
            <a:r>
              <a:rPr lang="en-US" b="1" spc="-10" dirty="0"/>
              <a:t>WMC VS SECTION </a:t>
            </a:r>
            <a:r>
              <a:rPr lang="en-US" dirty="0"/>
              <a:t>: If a WMC session is scheduled, no individual sub-section belonging to that batch can have a separate core class at that time.</a:t>
            </a:r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endParaRPr lang="en-US" dirty="0"/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lang="en-IN" b="1" spc="-10" dirty="0"/>
              <a:t>2+1 LECTURE FORMAT </a:t>
            </a:r>
            <a:r>
              <a:rPr b="1" dirty="0">
                <a:latin typeface="Calibri"/>
                <a:cs typeface="Calibri"/>
              </a:rPr>
              <a:t>: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lang="en-US" dirty="0"/>
              <a:t>For core (non-elective) subjects with lectures &gt;= 2, the lecture               hours are split into:</a:t>
            </a:r>
          </a:p>
          <a:p>
            <a:pPr marL="171450">
              <a:lnSpc>
                <a:spcPct val="100000"/>
              </a:lnSpc>
              <a:buClr>
                <a:srgbClr val="E48312"/>
              </a:buClr>
              <a:buSzPct val="93333"/>
              <a:tabLst>
                <a:tab pos="507365" algn="l"/>
              </a:tabLst>
            </a:pPr>
            <a:r>
              <a:rPr lang="en-US" spc="-10" dirty="0"/>
              <a:t>	 • Exactly ONE 2-hour double-lecture block (</a:t>
            </a:r>
            <a:r>
              <a:rPr lang="en-US" spc="-10" dirty="0" err="1"/>
              <a:t>lecturePairIndex</a:t>
            </a:r>
            <a:r>
              <a:rPr lang="en-US" spc="-10" dirty="0"/>
              <a:t> = 0)                 			 • All remaining hours as individual 1-hour sessions (</a:t>
            </a:r>
            <a:r>
              <a:rPr lang="en-US" spc="-10" dirty="0" err="1"/>
              <a:t>lecturePairIndex</a:t>
            </a:r>
            <a:r>
              <a:rPr lang="en-US" spc="-10" dirty="0"/>
              <a:t> = -1)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1778613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93F93-02B7-18F6-561E-277C7198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9D5BFBA-BF2F-0338-31E1-74BD30683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70" dirty="0"/>
              <a:t>Soft</a:t>
            </a:r>
            <a:r>
              <a:rPr spc="-7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FE4F66C-7ECA-38B6-B884-19A97424D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1428750"/>
            <a:ext cx="7520305" cy="24109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spcBef>
                <a:spcPts val="735"/>
              </a:spcBef>
            </a:pPr>
            <a:r>
              <a:rPr lang="en-IN" dirty="0"/>
              <a:t>Soft</a:t>
            </a:r>
            <a:r>
              <a:rPr lang="en-IN" spc="-20" dirty="0"/>
              <a:t> </a:t>
            </a:r>
            <a:r>
              <a:rPr lang="en-IN" spc="-10" dirty="0"/>
              <a:t>Constraints</a:t>
            </a:r>
            <a:r>
              <a:rPr lang="en-IN" spc="-20" dirty="0"/>
              <a:t> </a:t>
            </a:r>
            <a:r>
              <a:rPr lang="en-IN" spc="-25" dirty="0"/>
              <a:t>:</a:t>
            </a:r>
          </a:p>
          <a:p>
            <a:pPr marL="50800">
              <a:spcBef>
                <a:spcPts val="735"/>
              </a:spcBef>
            </a:pPr>
            <a:endParaRPr sz="1500" dirty="0">
              <a:latin typeface="Calibri"/>
              <a:cs typeface="Calibri"/>
            </a:endParaRPr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lang="en-US" b="1" dirty="0"/>
              <a:t> </a:t>
            </a:r>
            <a:r>
              <a:rPr lang="en-US" b="1" spc="-10" dirty="0"/>
              <a:t>STUDENT GAP PENALTY (COMPRESSION)(W=1.0): </a:t>
            </a:r>
            <a:r>
              <a:rPr lang="en-US" dirty="0"/>
              <a:t>Minimizes empty "free" slots between a student groups first and last class of the day to compress their schedule.</a:t>
            </a:r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endParaRPr lang="en-US" dirty="0"/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lang="en-IN" b="1" spc="-10" dirty="0"/>
              <a:t>ROOM UTILIZATION PENALTY (W=0.8) : </a:t>
            </a:r>
            <a:r>
              <a:rPr lang="en-US" dirty="0"/>
              <a:t>Encourages efficient use of space. Penalties apply if room fill ratio is &lt; 60% (under-util) or &gt; 120% (over-util).</a:t>
            </a:r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endParaRPr lang="en-US" dirty="0"/>
          </a:p>
          <a:p>
            <a:pPr marL="5073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507365" algn="l"/>
              </a:tabLst>
            </a:pPr>
            <a:r>
              <a:rPr lang="en-IN" b="1" spc="-10" dirty="0"/>
              <a:t>PROFESSOR SAME-HALF PENALTY (W=5.0) :</a:t>
            </a:r>
            <a:r>
              <a:rPr lang="en-IN" spc="-10" dirty="0"/>
              <a:t> Enco</a:t>
            </a:r>
            <a:r>
              <a:rPr lang="en-US" spc="-10" dirty="0" err="1"/>
              <a:t>urages</a:t>
            </a:r>
            <a:r>
              <a:rPr lang="en-US" spc="-10" dirty="0"/>
              <a:t> compact faculty schedules. A penalty is added if a professor teaches in both Morning (1-4) and Afternoon (5-8) halves.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2216448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9144000" h="342900">
                <a:moveTo>
                  <a:pt x="9143999" y="342899"/>
                </a:moveTo>
                <a:lnTo>
                  <a:pt x="0" y="3428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42899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2024" y="-22271"/>
            <a:ext cx="294322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dirty="0"/>
              <a:t>Literature</a:t>
            </a:r>
            <a:r>
              <a:rPr sz="3200" spc="-125" dirty="0"/>
              <a:t> </a:t>
            </a:r>
            <a:r>
              <a:rPr sz="3200" spc="-10" dirty="0"/>
              <a:t>Review</a:t>
            </a:r>
            <a:endParaRPr sz="32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0" y="487469"/>
          <a:ext cx="9144632" cy="4256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2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8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51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924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4831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Method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1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293C55"/>
                    </a:solidFill>
                  </a:tcPr>
                </a:tc>
                <a:tc>
                  <a:txBody>
                    <a:bodyPr/>
                    <a:lstStyle/>
                    <a:p>
                      <a:pPr marL="5784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b="1" spc="-1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Key</a:t>
                      </a:r>
                      <a:r>
                        <a:rPr sz="14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Idea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293C55"/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Advantages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293C55"/>
                    </a:solidFill>
                  </a:tcPr>
                </a:tc>
                <a:tc>
                  <a:txBody>
                    <a:bodyPr/>
                    <a:lstStyle/>
                    <a:p>
                      <a:pPr marL="5429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Limitations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293C55"/>
                    </a:solidFill>
                  </a:tcPr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Reference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293C55"/>
                    </a:solidFill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E4831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4831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Technique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93C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93C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93C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93C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93C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E4831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4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4831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711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7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Genetic</a:t>
                      </a:r>
                      <a:r>
                        <a:rPr sz="1200" b="1" spc="-3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Algorithm 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(GA)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A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1016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8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Represents</a:t>
                      </a:r>
                      <a:r>
                        <a:rPr sz="1200" b="1" spc="-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timetables</a:t>
                      </a:r>
                      <a:r>
                        <a:rPr sz="1200" b="1" spc="-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9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as </a:t>
                      </a:r>
                      <a:r>
                        <a:rPr sz="1200" b="1" spc="-9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chromosomes</a:t>
                      </a:r>
                      <a:r>
                        <a:rPr sz="1200" b="1" spc="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200" b="1" spc="-7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evolves</a:t>
                      </a:r>
                      <a:r>
                        <a:rPr sz="1200" b="1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them</a:t>
                      </a:r>
                      <a:r>
                        <a:rPr sz="1200" b="1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using </a:t>
                      </a:r>
                      <a:r>
                        <a:rPr sz="1200" b="1" spc="-8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crossover</a:t>
                      </a:r>
                      <a:r>
                        <a:rPr sz="1200" b="1" spc="-5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mutation.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A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939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8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Explores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large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search </a:t>
                      </a:r>
                      <a:r>
                        <a:rPr sz="1200" b="1" spc="-8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space</a:t>
                      </a:r>
                      <a:r>
                        <a:rPr sz="1200" b="1" spc="-3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200" b="1" spc="-3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improves </a:t>
                      </a:r>
                      <a:r>
                        <a:rPr sz="1200" b="1" spc="-8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solutions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over</a:t>
                      </a:r>
                      <a:r>
                        <a:rPr sz="1200" b="1" spc="-5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generations.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A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2330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8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Crossover</a:t>
                      </a:r>
                      <a:r>
                        <a:rPr sz="1200" b="1" spc="-4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frequently </a:t>
                      </a:r>
                      <a:r>
                        <a:rPr sz="1200" b="1" spc="-8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breaks</a:t>
                      </a:r>
                      <a:r>
                        <a:rPr sz="1200" b="1" spc="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structures, </a:t>
                      </a:r>
                      <a:r>
                        <a:rPr sz="1200" b="1" spc="-6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requiring</a:t>
                      </a:r>
                      <a:r>
                        <a:rPr sz="1200" b="1" spc="-1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6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complex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repair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tools.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A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10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Burke</a:t>
                      </a:r>
                      <a:r>
                        <a:rPr sz="1200" b="1" spc="-3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1200" b="1" spc="-3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al.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E4831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4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4831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2063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Multi-</a:t>
                      </a:r>
                      <a:r>
                        <a:rPr sz="1200" b="1" spc="-5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Objective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Simulated Annealing (MOSA)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CE6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723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10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Uses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6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simulated</a:t>
                      </a:r>
                      <a:r>
                        <a:rPr sz="1200" b="1" spc="-1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annealing </a:t>
                      </a:r>
                      <a:r>
                        <a:rPr sz="1200" b="1" spc="-5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optimize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multiple objectives simultaneously.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CE6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2578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10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Can</a:t>
                      </a:r>
                      <a:r>
                        <a:rPr sz="1200" b="1" spc="-1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8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escape</a:t>
                      </a:r>
                      <a:r>
                        <a:rPr sz="1200" b="1" spc="-1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6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local</a:t>
                      </a:r>
                      <a:r>
                        <a:rPr sz="1200" b="1" spc="-1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optima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200" b="1" spc="-3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handle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multiple objectives.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CE6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1987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Slow</a:t>
                      </a:r>
                      <a:r>
                        <a:rPr sz="1200" b="1" spc="-4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8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convergence</a:t>
                      </a:r>
                      <a:r>
                        <a:rPr sz="1200" b="1" spc="-1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datasets;</a:t>
                      </a:r>
                      <a:r>
                        <a:rPr sz="1200" b="1" spc="-3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robustness </a:t>
                      </a:r>
                      <a:r>
                        <a:rPr sz="1200" b="1" spc="-9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checks</a:t>
                      </a:r>
                      <a:r>
                        <a:rPr sz="1200" b="1" spc="-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require</a:t>
                      </a:r>
                      <a:r>
                        <a:rPr sz="1200" b="1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expensive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repairs.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CE6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10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Gülcü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&amp;</a:t>
                      </a:r>
                      <a:r>
                        <a:rPr sz="1200" b="1" spc="-5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Akkan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C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E4831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6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4831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689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Evolution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Strategy</a:t>
                      </a:r>
                      <a:r>
                        <a:rPr sz="1200" b="1" spc="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(1+1-</a:t>
                      </a:r>
                      <a:r>
                        <a:rPr sz="1200" b="1" spc="-1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ES)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A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3987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Maintains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single </a:t>
                      </a:r>
                      <a:r>
                        <a:rPr sz="1200" b="1" spc="-8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solution</a:t>
                      </a:r>
                      <a:r>
                        <a:rPr sz="1200" b="1" spc="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200" b="1" spc="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iterates </a:t>
                      </a:r>
                      <a:r>
                        <a:rPr sz="1200" b="1" spc="-1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using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mutation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only.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A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1466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Lower</a:t>
                      </a:r>
                      <a:r>
                        <a:rPr sz="1200" b="1" spc="-4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9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cost</a:t>
                      </a:r>
                      <a:r>
                        <a:rPr sz="1200" b="1" spc="-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6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(evaluates</a:t>
                      </a:r>
                      <a:r>
                        <a:rPr sz="1200" b="1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one </a:t>
                      </a: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candidate);</a:t>
                      </a:r>
                      <a:r>
                        <a:rPr sz="1200" b="1" spc="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avoids </a:t>
                      </a:r>
                      <a:r>
                        <a:rPr sz="1200" b="1" spc="-5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destructive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crossover.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A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1028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8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Requires</a:t>
                      </a:r>
                      <a:r>
                        <a:rPr sz="1200" b="1" spc="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extremely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careful </a:t>
                      </a:r>
                      <a:r>
                        <a:rPr sz="1200" b="1" spc="-10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design</a:t>
                      </a:r>
                      <a:r>
                        <a:rPr sz="1200" b="1" spc="-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6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200" b="1" spc="-3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mutation operators.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A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Srivastava</a:t>
                      </a:r>
                      <a:r>
                        <a:rPr sz="1200" b="1" spc="-3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1200" b="1" spc="-3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al.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E4831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36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4831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812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5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Improved</a:t>
                      </a:r>
                      <a:r>
                        <a:rPr sz="1200" b="1" spc="-4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ES</a:t>
                      </a:r>
                      <a:r>
                        <a:rPr sz="1200" b="1" spc="-6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with Preprocessing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E48312"/>
                      </a:solidFill>
                      <a:prstDash val="solid"/>
                    </a:lnB>
                    <a:solidFill>
                      <a:srgbClr val="FAECE6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3873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8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Combines</a:t>
                      </a:r>
                      <a:r>
                        <a:rPr sz="1200" b="1" spc="-3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ES</a:t>
                      </a:r>
                      <a:r>
                        <a:rPr sz="1200" b="1" spc="-6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with 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preprocessing </a:t>
                      </a:r>
                      <a:r>
                        <a:rPr sz="1200" b="1" spc="-7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techniques</a:t>
                      </a:r>
                      <a:r>
                        <a:rPr sz="1200" b="1" spc="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structured</a:t>
                      </a:r>
                      <a:r>
                        <a:rPr sz="1200" b="1" spc="-1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mutation.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E48312"/>
                      </a:solidFill>
                      <a:prstDash val="solid"/>
                    </a:lnB>
                    <a:solidFill>
                      <a:srgbClr val="FAECE6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1587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9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Faster</a:t>
                      </a:r>
                      <a:r>
                        <a:rPr sz="1200" b="1" spc="-3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8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convergence</a:t>
                      </a:r>
                      <a:r>
                        <a:rPr sz="1200" b="1" spc="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speed and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8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produces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much </a:t>
                      </a:r>
                      <a:r>
                        <a:rPr sz="1200" b="1" spc="-7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higher-</a:t>
                      </a:r>
                      <a:r>
                        <a:rPr sz="1200" b="1" spc="-3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r>
                        <a:rPr sz="1200" b="1" spc="3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schedules.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E48312"/>
                      </a:solidFill>
                      <a:prstDash val="solid"/>
                    </a:lnB>
                    <a:solidFill>
                      <a:srgbClr val="FAECE6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13779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Implementation </a:t>
                      </a:r>
                      <a:r>
                        <a:rPr sz="1200" b="1" spc="-6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complexity</a:t>
                      </a:r>
                      <a:r>
                        <a:rPr sz="1200" b="1" spc="-1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slightly</a:t>
                      </a:r>
                      <a:r>
                        <a:rPr sz="1200" b="1" spc="-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7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higher.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E48312"/>
                      </a:solidFill>
                      <a:prstDash val="solid"/>
                    </a:lnB>
                    <a:solidFill>
                      <a:srgbClr val="FAECE6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b="1" spc="-7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Srivastava</a:t>
                      </a:r>
                      <a:r>
                        <a:rPr sz="1200" b="1" spc="-3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1200" b="1" spc="-30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3C4650"/>
                          </a:solidFill>
                          <a:latin typeface="Arial"/>
                          <a:cs typeface="Arial"/>
                        </a:rPr>
                        <a:t>al.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E48312"/>
                      </a:solidFill>
                      <a:prstDash val="solid"/>
                    </a:lnB>
                    <a:solidFill>
                      <a:srgbClr val="FAEC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E4831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9275" y="734831"/>
            <a:ext cx="5772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(1+1)-</a:t>
            </a:r>
            <a:r>
              <a:rPr dirty="0"/>
              <a:t>ES</a:t>
            </a:r>
            <a:r>
              <a:rPr spc="-60" dirty="0"/>
              <a:t> </a:t>
            </a:r>
            <a:r>
              <a:rPr dirty="0"/>
              <a:t>Algorithm</a:t>
            </a:r>
            <a:r>
              <a:rPr spc="-60" dirty="0"/>
              <a:t> </a:t>
            </a:r>
            <a:r>
              <a:rPr dirty="0"/>
              <a:t>(Part</a:t>
            </a:r>
            <a:r>
              <a:rPr spc="-60" dirty="0"/>
              <a:t> </a:t>
            </a:r>
            <a:r>
              <a:rPr spc="-25" dirty="0"/>
              <a:t>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4050" y="1258998"/>
            <a:ext cx="7432040" cy="3497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engine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follows</a:t>
            </a:r>
            <a:r>
              <a:rPr sz="1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an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E3E3E"/>
                </a:solidFill>
                <a:latin typeface="Calibri"/>
                <a:cs typeface="Calibri"/>
              </a:rPr>
              <a:t>iterative</a:t>
            </a:r>
            <a:r>
              <a:rPr sz="1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loop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minimize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total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penalty</a:t>
            </a:r>
            <a:r>
              <a:rPr sz="1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score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P(S).</a:t>
            </a:r>
            <a:endParaRPr sz="14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1100"/>
              </a:spcBef>
            </a:pPr>
            <a:r>
              <a:rPr sz="1400" b="1" dirty="0">
                <a:solidFill>
                  <a:srgbClr val="3E3E3E"/>
                </a:solidFill>
                <a:latin typeface="Calibri"/>
                <a:cs typeface="Calibri"/>
              </a:rPr>
              <a:t>Step</a:t>
            </a:r>
            <a:r>
              <a:rPr sz="14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E3E3E"/>
                </a:solidFill>
                <a:latin typeface="Calibri"/>
                <a:cs typeface="Calibri"/>
              </a:rPr>
              <a:t>1:</a:t>
            </a:r>
            <a:r>
              <a:rPr sz="14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E3E3E"/>
                </a:solidFill>
                <a:latin typeface="Calibri"/>
                <a:cs typeface="Calibri"/>
              </a:rPr>
              <a:t>Initialization.</a:t>
            </a:r>
            <a:r>
              <a:rPr sz="1400" b="1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Initializes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using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seed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timetable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(</a:t>
            </a:r>
            <a:r>
              <a:rPr sz="1400" b="1" dirty="0">
                <a:solidFill>
                  <a:srgbClr val="3E3E3E"/>
                </a:solidFill>
                <a:latin typeface="Calibri"/>
                <a:cs typeface="Calibri"/>
              </a:rPr>
              <a:t>S</a:t>
            </a:r>
            <a:r>
              <a:rPr sz="1350" b="1" baseline="-33950" dirty="0">
                <a:solidFill>
                  <a:srgbClr val="3E3E3E"/>
                </a:solidFill>
                <a:latin typeface="Calibri"/>
                <a:cs typeface="Calibri"/>
              </a:rPr>
              <a:t>parent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)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calculates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its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penalty.</a:t>
            </a:r>
            <a:endParaRPr sz="1400">
              <a:latin typeface="Calibri"/>
              <a:cs typeface="Calibri"/>
            </a:endParaRPr>
          </a:p>
          <a:p>
            <a:pPr marL="88900" marR="511809">
              <a:lnSpc>
                <a:spcPct val="100000"/>
              </a:lnSpc>
              <a:spcBef>
                <a:spcPts val="1100"/>
              </a:spcBef>
            </a:pPr>
            <a:r>
              <a:rPr sz="1400" b="1" dirty="0">
                <a:solidFill>
                  <a:srgbClr val="3E3E3E"/>
                </a:solidFill>
                <a:latin typeface="Calibri"/>
                <a:cs typeface="Calibri"/>
              </a:rPr>
              <a:t>Step</a:t>
            </a:r>
            <a:r>
              <a:rPr sz="14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E3E3E"/>
                </a:solidFill>
                <a:latin typeface="Calibri"/>
                <a:cs typeface="Calibri"/>
              </a:rPr>
              <a:t>2:</a:t>
            </a:r>
            <a:r>
              <a:rPr sz="14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E3E3E"/>
                </a:solidFill>
                <a:latin typeface="Calibri"/>
                <a:cs typeface="Calibri"/>
              </a:rPr>
              <a:t>Mutation</a:t>
            </a:r>
            <a:r>
              <a:rPr sz="14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b="1" spc="-100" dirty="0">
                <a:solidFill>
                  <a:srgbClr val="3E3E3E"/>
                </a:solidFill>
                <a:latin typeface="Calibri"/>
                <a:cs typeface="Calibri"/>
              </a:rPr>
              <a:t>(</a:t>
            </a:r>
            <a:r>
              <a:rPr sz="1400" b="1" spc="-100" dirty="0">
                <a:solidFill>
                  <a:srgbClr val="3E3E3E"/>
                </a:solidFill>
                <a:latin typeface="Arial"/>
                <a:cs typeface="Arial"/>
              </a:rPr>
              <a:t>𝝈</a:t>
            </a:r>
            <a:r>
              <a:rPr sz="1400" b="1" spc="-100" dirty="0">
                <a:solidFill>
                  <a:srgbClr val="3E3E3E"/>
                </a:solidFill>
                <a:latin typeface="Calibri"/>
                <a:cs typeface="Calibri"/>
              </a:rPr>
              <a:t>).</a:t>
            </a:r>
            <a:r>
              <a:rPr sz="1400" b="1" spc="-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Child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is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created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by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selecting</a:t>
            </a:r>
            <a:r>
              <a:rPr sz="14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mutable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sessions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applying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five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distinct </a:t>
            </a:r>
            <a:r>
              <a:rPr sz="1400" spc="-20" dirty="0">
                <a:solidFill>
                  <a:srgbClr val="3E3E3E"/>
                </a:solidFill>
                <a:latin typeface="Calibri"/>
                <a:cs typeface="Calibri"/>
              </a:rPr>
              <a:t>operators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governed</a:t>
            </a:r>
            <a:r>
              <a:rPr sz="14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by</a:t>
            </a:r>
            <a:r>
              <a:rPr sz="14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variance</a:t>
            </a:r>
            <a:r>
              <a:rPr sz="14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sigma:</a:t>
            </a:r>
            <a:endParaRPr sz="14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1100"/>
              </a:spcBef>
            </a:pPr>
            <a:r>
              <a:rPr sz="1400" b="1" spc="-10" dirty="0">
                <a:solidFill>
                  <a:srgbClr val="3E3E3E"/>
                </a:solidFill>
                <a:latin typeface="Calibri"/>
                <a:cs typeface="Calibri"/>
              </a:rPr>
              <a:t>Mutators</a:t>
            </a:r>
            <a:r>
              <a:rPr sz="14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E3E3E"/>
                </a:solidFill>
                <a:latin typeface="Calibri"/>
                <a:cs typeface="Calibri"/>
              </a:rPr>
              <a:t>Used:</a:t>
            </a:r>
            <a:endParaRPr sz="1400">
              <a:latin typeface="Calibri"/>
              <a:cs typeface="Calibri"/>
            </a:endParaRPr>
          </a:p>
          <a:p>
            <a:pPr marL="545465" indent="-363220">
              <a:lnSpc>
                <a:spcPct val="100000"/>
              </a:lnSpc>
              <a:spcBef>
                <a:spcPts val="1100"/>
              </a:spcBef>
              <a:buClr>
                <a:srgbClr val="E48312"/>
              </a:buClr>
              <a:buFont typeface="Calibri"/>
              <a:buAutoNum type="arabicPeriod"/>
              <a:tabLst>
                <a:tab pos="545465" algn="l"/>
              </a:tabLst>
            </a:pPr>
            <a:r>
              <a:rPr sz="1400" b="1" spc="-10" dirty="0">
                <a:solidFill>
                  <a:srgbClr val="3E3E3E"/>
                </a:solidFill>
                <a:latin typeface="Calibri"/>
                <a:cs typeface="Calibri"/>
              </a:rPr>
              <a:t>Mutate</a:t>
            </a:r>
            <a:r>
              <a:rPr sz="14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E3E3E"/>
                </a:solidFill>
                <a:latin typeface="Calibri"/>
                <a:cs typeface="Calibri"/>
              </a:rPr>
              <a:t>Day:</a:t>
            </a:r>
            <a:r>
              <a:rPr sz="14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Shifts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session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random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new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E3E3E"/>
                </a:solidFill>
                <a:latin typeface="Calibri"/>
                <a:cs typeface="Calibri"/>
              </a:rPr>
              <a:t>day.</a:t>
            </a:r>
            <a:endParaRPr sz="1400">
              <a:latin typeface="Calibri"/>
              <a:cs typeface="Calibri"/>
            </a:endParaRPr>
          </a:p>
          <a:p>
            <a:pPr marL="545465" indent="-363220">
              <a:lnSpc>
                <a:spcPct val="100000"/>
              </a:lnSpc>
              <a:buClr>
                <a:srgbClr val="E48312"/>
              </a:buClr>
              <a:buFont typeface="Calibri"/>
              <a:buAutoNum type="arabicPeriod"/>
              <a:tabLst>
                <a:tab pos="545465" algn="l"/>
              </a:tabLst>
            </a:pPr>
            <a:r>
              <a:rPr sz="1400" b="1" spc="-10" dirty="0">
                <a:solidFill>
                  <a:srgbClr val="3E3E3E"/>
                </a:solidFill>
                <a:latin typeface="Calibri"/>
                <a:cs typeface="Calibri"/>
              </a:rPr>
              <a:t>Mutate</a:t>
            </a:r>
            <a:r>
              <a:rPr sz="14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E3E3E"/>
                </a:solidFill>
                <a:latin typeface="Calibri"/>
                <a:cs typeface="Calibri"/>
              </a:rPr>
              <a:t>Time:</a:t>
            </a:r>
            <a:r>
              <a:rPr sz="14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Applies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Gaussian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noise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scaled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by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E3E3E"/>
                </a:solidFill>
                <a:latin typeface="Arial MT"/>
                <a:cs typeface="Arial MT"/>
              </a:rPr>
              <a:t>𝝈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545465" indent="-363220">
              <a:lnSpc>
                <a:spcPct val="100000"/>
              </a:lnSpc>
              <a:buClr>
                <a:srgbClr val="E48312"/>
              </a:buClr>
              <a:buFont typeface="Calibri"/>
              <a:buAutoNum type="arabicPeriod"/>
              <a:tabLst>
                <a:tab pos="545465" algn="l"/>
              </a:tabLst>
            </a:pPr>
            <a:r>
              <a:rPr sz="1400" b="1" spc="-10" dirty="0">
                <a:solidFill>
                  <a:srgbClr val="3E3E3E"/>
                </a:solidFill>
                <a:latin typeface="Calibri"/>
                <a:cs typeface="Calibri"/>
              </a:rPr>
              <a:t>Mutate</a:t>
            </a:r>
            <a:r>
              <a:rPr sz="14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E3E3E"/>
                </a:solidFill>
                <a:latin typeface="Calibri"/>
                <a:cs typeface="Calibri"/>
              </a:rPr>
              <a:t>Room:</a:t>
            </a:r>
            <a:r>
              <a:rPr sz="14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Reassigns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E3E3E"/>
                </a:solidFill>
                <a:latin typeface="Calibri"/>
                <a:cs typeface="Calibri"/>
              </a:rPr>
              <a:t>strictly,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respecting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Lab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vs.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Lecture</a:t>
            </a:r>
            <a:r>
              <a:rPr sz="1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limits.</a:t>
            </a:r>
            <a:endParaRPr sz="1400">
              <a:latin typeface="Calibri"/>
              <a:cs typeface="Calibri"/>
            </a:endParaRPr>
          </a:p>
          <a:p>
            <a:pPr marL="546100" marR="30480" indent="-363855">
              <a:lnSpc>
                <a:spcPct val="100000"/>
              </a:lnSpc>
              <a:buClr>
                <a:srgbClr val="E48312"/>
              </a:buClr>
              <a:buFont typeface="Calibri"/>
              <a:buAutoNum type="arabicPeriod"/>
              <a:tabLst>
                <a:tab pos="546100" algn="l"/>
              </a:tabLst>
            </a:pPr>
            <a:r>
              <a:rPr sz="1400" b="1" spc="-10" dirty="0">
                <a:solidFill>
                  <a:srgbClr val="3E3E3E"/>
                </a:solidFill>
                <a:latin typeface="Calibri"/>
                <a:cs typeface="Calibri"/>
              </a:rPr>
              <a:t>Relocate</a:t>
            </a:r>
            <a:r>
              <a:rPr sz="14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E3E3E"/>
                </a:solidFill>
                <a:latin typeface="Calibri"/>
                <a:cs typeface="Calibri"/>
              </a:rPr>
              <a:t>(Global</a:t>
            </a:r>
            <a:r>
              <a:rPr sz="14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E3E3E"/>
                </a:solidFill>
                <a:latin typeface="Calibri"/>
                <a:cs typeface="Calibri"/>
              </a:rPr>
              <a:t>Jump):</a:t>
            </a:r>
            <a:r>
              <a:rPr sz="14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Moves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session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totally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new,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random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valid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configuration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(Day,</a:t>
            </a:r>
            <a:r>
              <a:rPr sz="14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Time, Room).</a:t>
            </a:r>
            <a:endParaRPr sz="1400">
              <a:latin typeface="Calibri"/>
              <a:cs typeface="Calibri"/>
            </a:endParaRPr>
          </a:p>
          <a:p>
            <a:pPr marL="545465" indent="-363220">
              <a:lnSpc>
                <a:spcPct val="100000"/>
              </a:lnSpc>
              <a:buClr>
                <a:srgbClr val="E48312"/>
              </a:buClr>
              <a:buFont typeface="Calibri"/>
              <a:buAutoNum type="arabicPeriod"/>
              <a:tabLst>
                <a:tab pos="545465" algn="l"/>
              </a:tabLst>
            </a:pPr>
            <a:r>
              <a:rPr sz="1400" b="1" dirty="0">
                <a:solidFill>
                  <a:srgbClr val="3E3E3E"/>
                </a:solidFill>
                <a:latin typeface="Calibri"/>
                <a:cs typeface="Calibri"/>
              </a:rPr>
              <a:t>Swap:</a:t>
            </a:r>
            <a:r>
              <a:rPr sz="14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Trades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places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between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two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E3E3E"/>
                </a:solidFill>
                <a:latin typeface="Calibri"/>
                <a:cs typeface="Calibri"/>
              </a:rPr>
              <a:t>non-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elective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sessions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equal</a:t>
            </a:r>
            <a:r>
              <a:rPr sz="1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duration.</a:t>
            </a:r>
            <a:endParaRPr sz="1400">
              <a:latin typeface="Calibri"/>
              <a:cs typeface="Calibri"/>
            </a:endParaRPr>
          </a:p>
          <a:p>
            <a:pPr marL="88900" marR="96520">
              <a:lnSpc>
                <a:spcPct val="100000"/>
              </a:lnSpc>
              <a:spcBef>
                <a:spcPts val="1100"/>
              </a:spcBef>
            </a:pPr>
            <a:r>
              <a:rPr sz="1400" b="1" dirty="0">
                <a:solidFill>
                  <a:srgbClr val="3E3E3E"/>
                </a:solidFill>
                <a:latin typeface="Calibri"/>
                <a:cs typeface="Calibri"/>
              </a:rPr>
              <a:t>Sync</a:t>
            </a:r>
            <a:r>
              <a:rPr sz="14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E3E3E"/>
                </a:solidFill>
                <a:latin typeface="Calibri"/>
                <a:cs typeface="Calibri"/>
              </a:rPr>
              <a:t>Preservation:</a:t>
            </a:r>
            <a:r>
              <a:rPr sz="14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Any</a:t>
            </a:r>
            <a:r>
              <a:rPr sz="1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time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mutation</a:t>
            </a:r>
            <a:r>
              <a:rPr sz="1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applied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an</a:t>
            </a:r>
            <a:r>
              <a:rPr sz="1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elective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forces</a:t>
            </a:r>
            <a:r>
              <a:rPr sz="1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entire</a:t>
            </a:r>
            <a:r>
              <a:rPr sz="1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synced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basket</a:t>
            </a:r>
            <a:r>
              <a:rPr sz="14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E3E3E"/>
                </a:solidFill>
                <a:latin typeface="Calibri"/>
                <a:cs typeface="Calibri"/>
              </a:rPr>
              <a:t>move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with</a:t>
            </a:r>
            <a:r>
              <a:rPr sz="14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E3E3E"/>
                </a:solidFill>
                <a:latin typeface="Calibri"/>
                <a:cs typeface="Calibri"/>
              </a:rPr>
              <a:t>it.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(1+1)-</a:t>
            </a:r>
            <a:r>
              <a:rPr dirty="0"/>
              <a:t>ES</a:t>
            </a:r>
            <a:r>
              <a:rPr spc="-60" dirty="0"/>
              <a:t> </a:t>
            </a:r>
            <a:r>
              <a:rPr dirty="0"/>
              <a:t>Algorithm</a:t>
            </a:r>
            <a:r>
              <a:rPr spc="-60" dirty="0"/>
              <a:t> </a:t>
            </a:r>
            <a:r>
              <a:rPr dirty="0"/>
              <a:t>(Part</a:t>
            </a:r>
            <a:r>
              <a:rPr spc="-60" dirty="0"/>
              <a:t> </a:t>
            </a:r>
            <a:r>
              <a:rPr spc="-25" dirty="0"/>
              <a:t>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5650" y="1498801"/>
            <a:ext cx="7512050" cy="30759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50800" marR="120650">
              <a:lnSpc>
                <a:spcPts val="1620"/>
              </a:lnSpc>
              <a:spcBef>
                <a:spcPts val="305"/>
              </a:spcBef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Step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3: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Selection.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Child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replaces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Parent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only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if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P(S</a:t>
            </a:r>
            <a:r>
              <a:rPr sz="1500" baseline="-30555" dirty="0">
                <a:solidFill>
                  <a:srgbClr val="3E3E3E"/>
                </a:solidFill>
                <a:latin typeface="Calibri"/>
                <a:cs typeface="Calibri"/>
              </a:rPr>
              <a:t>parent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)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&lt;=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P(S</a:t>
            </a:r>
            <a:r>
              <a:rPr sz="1500" baseline="-30555" dirty="0">
                <a:solidFill>
                  <a:srgbClr val="3E3E3E"/>
                </a:solidFill>
                <a:latin typeface="Calibri"/>
                <a:cs typeface="Calibri"/>
              </a:rPr>
              <a:t>child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).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This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elitism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protects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hard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constraints.</a:t>
            </a:r>
            <a:endParaRPr sz="15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895"/>
              </a:spcBef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Step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4: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1/5th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Success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Rule.</a:t>
            </a:r>
            <a:r>
              <a:rPr sz="1500" b="1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Checked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every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50</a:t>
            </a:r>
            <a:r>
              <a:rPr sz="15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iterations:</a:t>
            </a:r>
            <a:endParaRPr sz="1500">
              <a:latin typeface="Calibri"/>
              <a:cs typeface="Calibri"/>
            </a:endParaRPr>
          </a:p>
          <a:p>
            <a:pPr marL="50800" marR="3936365">
              <a:lnSpc>
                <a:spcPct val="151100"/>
              </a:lnSpc>
            </a:pP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If</a:t>
            </a:r>
            <a:r>
              <a:rPr sz="1500" spc="-7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&gt;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20%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success:</a:t>
            </a:r>
            <a:r>
              <a:rPr sz="1500" spc="30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434" dirty="0">
                <a:solidFill>
                  <a:srgbClr val="3E3E3E"/>
                </a:solidFill>
                <a:latin typeface="Arial MT"/>
                <a:cs typeface="Arial MT"/>
              </a:rPr>
              <a:t>𝝈</a:t>
            </a:r>
            <a:r>
              <a:rPr sz="1500" spc="-8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=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434" dirty="0">
                <a:solidFill>
                  <a:srgbClr val="3E3E3E"/>
                </a:solidFill>
                <a:latin typeface="Arial MT"/>
                <a:cs typeface="Arial MT"/>
              </a:rPr>
              <a:t>𝝈</a:t>
            </a:r>
            <a:r>
              <a:rPr sz="1500" spc="-8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*</a:t>
            </a:r>
            <a:r>
              <a:rPr sz="1500" spc="2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1.22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(search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wider).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If</a:t>
            </a:r>
            <a:r>
              <a:rPr sz="1500" spc="-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&lt;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20%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success:</a:t>
            </a:r>
            <a:r>
              <a:rPr sz="1500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434" dirty="0">
                <a:solidFill>
                  <a:srgbClr val="3E3E3E"/>
                </a:solidFill>
                <a:latin typeface="Arial MT"/>
                <a:cs typeface="Arial MT"/>
              </a:rPr>
              <a:t>𝝈</a:t>
            </a:r>
            <a:r>
              <a:rPr sz="1500" spc="-8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=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434" dirty="0">
                <a:solidFill>
                  <a:srgbClr val="3E3E3E"/>
                </a:solidFill>
                <a:latin typeface="Arial MT"/>
                <a:cs typeface="Arial MT"/>
              </a:rPr>
              <a:t>𝝈</a:t>
            </a:r>
            <a:r>
              <a:rPr sz="1500" spc="-80" dirty="0">
                <a:solidFill>
                  <a:srgbClr val="3E3E3E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*</a:t>
            </a:r>
            <a:r>
              <a:rPr sz="1500" spc="28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0.82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(search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finer).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Step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5: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Stagnation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Recovery.</a:t>
            </a:r>
            <a:endParaRPr sz="1500">
              <a:latin typeface="Calibri"/>
              <a:cs typeface="Calibri"/>
            </a:endParaRPr>
          </a:p>
          <a:p>
            <a:pPr marL="443865" indent="-335915">
              <a:lnSpc>
                <a:spcPts val="1710"/>
              </a:lnSpc>
              <a:spcBef>
                <a:spcPts val="1440"/>
              </a:spcBef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43865" algn="l"/>
              </a:tabLst>
            </a:pP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Checks</a:t>
            </a:r>
            <a:r>
              <a:rPr sz="1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for</a:t>
            </a:r>
            <a:r>
              <a:rPr sz="15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failure</a:t>
            </a:r>
            <a:r>
              <a:rPr sz="15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over</a:t>
            </a:r>
            <a:r>
              <a:rPr sz="15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15,000</a:t>
            </a:r>
            <a:r>
              <a:rPr sz="15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consecutive</a:t>
            </a:r>
            <a:r>
              <a:rPr sz="1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generations</a:t>
            </a:r>
            <a:r>
              <a:rPr sz="1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(a</a:t>
            </a:r>
            <a:r>
              <a:rPr sz="15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deep</a:t>
            </a:r>
            <a:r>
              <a:rPr sz="15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local</a:t>
            </a:r>
            <a:r>
              <a:rPr sz="15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optimum).</a:t>
            </a:r>
            <a:endParaRPr sz="1500">
              <a:latin typeface="Calibri"/>
              <a:cs typeface="Calibri"/>
            </a:endParaRPr>
          </a:p>
          <a:p>
            <a:pPr marL="444500" marR="677545" indent="-336550">
              <a:lnSpc>
                <a:spcPts val="1620"/>
              </a:lnSpc>
              <a:spcBef>
                <a:spcPts val="115"/>
              </a:spcBef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44500" algn="l"/>
              </a:tabLst>
            </a:pP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It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triggers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hard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reset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by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generating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completely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new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initial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timetable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(preserving 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user-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pinned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UI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classes).</a:t>
            </a:r>
            <a:endParaRPr sz="1500">
              <a:latin typeface="Calibri"/>
              <a:cs typeface="Calibri"/>
            </a:endParaRPr>
          </a:p>
          <a:p>
            <a:pPr marL="444500" marR="17780" indent="-336550">
              <a:lnSpc>
                <a:spcPts val="162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44500" algn="l"/>
              </a:tabLst>
            </a:pP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tracking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variance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(sigma)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is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reset,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but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global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best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timetable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found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so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far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is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kept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safe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sz="1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memory</a:t>
            </a:r>
            <a:r>
              <a:rPr sz="1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against</a:t>
            </a:r>
            <a:r>
              <a:rPr sz="1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regression.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Advantages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10250" y="1809480"/>
            <a:ext cx="7324725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Pivot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(1+1)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Evolution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Strategy</a:t>
            </a:r>
            <a:endParaRPr sz="1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500" dirty="0">
              <a:latin typeface="Calibri"/>
              <a:cs typeface="Calibri"/>
            </a:endParaRPr>
          </a:p>
          <a:p>
            <a:pPr marL="469900" marR="5080" indent="-336550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69900" algn="l"/>
              </a:tabLst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Data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Simplification:</a:t>
            </a:r>
            <a:r>
              <a:rPr sz="1500" b="1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Drastically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simplified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target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representation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by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pre-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chunking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sessions upfront.</a:t>
            </a:r>
            <a:endParaRPr sz="1500" dirty="0">
              <a:latin typeface="Calibri"/>
              <a:cs typeface="Calibri"/>
            </a:endParaRPr>
          </a:p>
          <a:p>
            <a:pPr marL="469900" marR="19685" indent="-336550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69900" algn="l"/>
              </a:tabLst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Memory</a:t>
            </a:r>
            <a:r>
              <a:rPr sz="15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Footprint:</a:t>
            </a:r>
            <a:r>
              <a:rPr sz="1500" b="1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(1+1)-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ES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holds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only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one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parent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one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offspring,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making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it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memory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light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for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browser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execution,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unlike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population-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based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Genetic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Algorithms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(GAs).</a:t>
            </a:r>
            <a:endParaRPr sz="1500" dirty="0">
              <a:latin typeface="Calibri"/>
              <a:cs typeface="Calibri"/>
            </a:endParaRPr>
          </a:p>
          <a:p>
            <a:pPr marL="469900" marR="393700" indent="-336550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69900" algn="l"/>
              </a:tabLst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Local</a:t>
            </a:r>
            <a:r>
              <a:rPr sz="1500" b="1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Minima</a:t>
            </a:r>
            <a:r>
              <a:rPr sz="1500" b="1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Management: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Implemented</a:t>
            </a:r>
            <a:r>
              <a:rPr sz="1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strict</a:t>
            </a:r>
            <a:r>
              <a:rPr sz="1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Rechenberg's</a:t>
            </a:r>
            <a:r>
              <a:rPr sz="15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1/5th</a:t>
            </a:r>
            <a:r>
              <a:rPr sz="1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success</a:t>
            </a:r>
            <a:r>
              <a:rPr sz="1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rule</a:t>
            </a:r>
            <a:r>
              <a:rPr sz="1500" spc="-5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to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manage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local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minima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problem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natively.</a:t>
            </a:r>
            <a:endParaRPr sz="1500" dirty="0">
              <a:latin typeface="Calibri"/>
              <a:cs typeface="Calibri"/>
            </a:endParaRPr>
          </a:p>
          <a:p>
            <a:pPr marL="469900" marR="162560" indent="-336550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69900" algn="l"/>
              </a:tabLst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Adaptive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Variance: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Scales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search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intensity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without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relying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on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brittle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cooling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schedules, allowing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solver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maintain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constraint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integrity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through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strict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elitism.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65" dirty="0"/>
              <a:t> </a:t>
            </a:r>
            <a:r>
              <a:rPr dirty="0"/>
              <a:t>Design</a:t>
            </a:r>
            <a:r>
              <a:rPr spc="-65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dirty="0"/>
              <a:t>Session</a:t>
            </a:r>
            <a:r>
              <a:rPr spc="-60" dirty="0"/>
              <a:t> </a:t>
            </a:r>
            <a:r>
              <a:rPr spc="-10" dirty="0"/>
              <a:t>Chunking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0" y="1461330"/>
            <a:ext cx="7142480" cy="314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System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Design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(Three-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Tier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Architecture):</a:t>
            </a:r>
            <a:endParaRPr sz="1500">
              <a:latin typeface="Calibri"/>
              <a:cs typeface="Calibri"/>
            </a:endParaRPr>
          </a:p>
          <a:p>
            <a:pPr marL="469265" indent="-335915">
              <a:lnSpc>
                <a:spcPct val="100000"/>
              </a:lnSpc>
              <a:spcBef>
                <a:spcPts val="1200"/>
              </a:spcBef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Database</a:t>
            </a:r>
            <a:r>
              <a:rPr sz="1500" b="1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(Supabase):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Stores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Professors,</a:t>
            </a:r>
            <a:r>
              <a:rPr sz="15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Rooms,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Groups,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1500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Subject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L-</a:t>
            </a:r>
            <a:r>
              <a:rPr sz="1500" spc="-70" dirty="0">
                <a:solidFill>
                  <a:srgbClr val="3E3E3E"/>
                </a:solidFill>
                <a:latin typeface="Calibri"/>
                <a:cs typeface="Calibri"/>
              </a:rPr>
              <a:t>T-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P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counts.</a:t>
            </a:r>
            <a:endParaRPr sz="1500">
              <a:latin typeface="Calibri"/>
              <a:cs typeface="Calibri"/>
            </a:endParaRPr>
          </a:p>
          <a:p>
            <a:pPr marL="469900" marR="5080" indent="-336550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69900" algn="l"/>
              </a:tabLst>
            </a:pP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Frontend</a:t>
            </a:r>
            <a:r>
              <a:rPr sz="1500" b="1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(React/TypeScript):</a:t>
            </a:r>
            <a:r>
              <a:rPr sz="1500" b="1" spc="-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An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interface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for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HODs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map</a:t>
            </a:r>
            <a:r>
              <a:rPr sz="1500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professors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subjects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and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sections.</a:t>
            </a:r>
            <a:endParaRPr sz="1500">
              <a:latin typeface="Calibri"/>
              <a:cs typeface="Calibri"/>
            </a:endParaRPr>
          </a:p>
          <a:p>
            <a:pPr marL="469900" marR="349250" indent="-336550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69900" algn="l"/>
              </a:tabLst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Solver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3E3E3E"/>
                </a:solidFill>
                <a:latin typeface="Calibri"/>
                <a:cs typeface="Calibri"/>
              </a:rPr>
              <a:t>(Client-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Side):</a:t>
            </a:r>
            <a:r>
              <a:rPr sz="1500" b="1" spc="-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An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asynchronous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engine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running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optimization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loop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the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background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browser.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Data</a:t>
            </a:r>
            <a:r>
              <a:rPr sz="1500" b="1" spc="-5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3E3E3E"/>
                </a:solidFill>
                <a:latin typeface="Calibri"/>
                <a:cs typeface="Calibri"/>
              </a:rPr>
              <a:t>Pre-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processing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(Session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Chunking):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system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processes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raw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lecture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hours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(L)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into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chunks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reduce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variable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complexity:</a:t>
            </a:r>
            <a:endParaRPr sz="1500">
              <a:latin typeface="Calibri"/>
              <a:cs typeface="Calibri"/>
            </a:endParaRPr>
          </a:p>
          <a:p>
            <a:pPr marL="469265" indent="-335915">
              <a:lnSpc>
                <a:spcPct val="100000"/>
              </a:lnSpc>
              <a:spcBef>
                <a:spcPts val="1200"/>
              </a:spcBef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L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=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3: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One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2-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hour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contiguous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block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one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1-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hour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block.</a:t>
            </a:r>
            <a:endParaRPr sz="1500">
              <a:latin typeface="Calibri"/>
              <a:cs typeface="Calibri"/>
            </a:endParaRPr>
          </a:p>
          <a:p>
            <a:pPr marL="4692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69265" algn="l"/>
              </a:tabLst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L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=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2:</a:t>
            </a:r>
            <a:r>
              <a:rPr sz="1500" b="1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One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2-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hour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contiguous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block.</a:t>
            </a:r>
            <a:endParaRPr sz="1500">
              <a:latin typeface="Calibri"/>
              <a:cs typeface="Calibri"/>
            </a:endParaRPr>
          </a:p>
          <a:p>
            <a:pPr marL="469265" indent="-335915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69265" algn="l"/>
              </a:tabLst>
            </a:pP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Practicals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(P):</a:t>
            </a:r>
            <a:r>
              <a:rPr sz="1500" b="1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One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2-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hour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contiguous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block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assigned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Lab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room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domain.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3473" y="330228"/>
            <a:ext cx="3255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85" dirty="0"/>
              <a:t> </a:t>
            </a:r>
            <a:r>
              <a:rPr spc="-20" dirty="0"/>
              <a:t>Workflow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528" y="1443990"/>
            <a:ext cx="7322820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marR="33020" indent="-336550">
              <a:lnSpc>
                <a:spcPct val="150000"/>
              </a:lnSpc>
              <a:spcBef>
                <a:spcPts val="100"/>
              </a:spcBef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348615" algn="l"/>
              </a:tabLst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Final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Result:</a:t>
            </a:r>
            <a:r>
              <a:rPr sz="1500" b="1" spc="-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implementation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successfully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manages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L-</a:t>
            </a:r>
            <a:r>
              <a:rPr sz="1500" spc="-70" dirty="0">
                <a:solidFill>
                  <a:srgbClr val="3E3E3E"/>
                </a:solidFill>
                <a:latin typeface="Calibri"/>
                <a:cs typeface="Calibri"/>
              </a:rPr>
              <a:t>T-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P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division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(1+1)-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ES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loop.</a:t>
            </a:r>
            <a:endParaRPr sz="1500">
              <a:latin typeface="Calibri"/>
              <a:cs typeface="Calibri"/>
            </a:endParaRPr>
          </a:p>
          <a:p>
            <a:pPr marL="348615" marR="5080" indent="-336550">
              <a:lnSpc>
                <a:spcPct val="15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348615" algn="l"/>
              </a:tabLst>
            </a:pP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Overcoming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Obstacles: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system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resolves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hard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conflicts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high-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density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scenarios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where previous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implementations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failed.</a:t>
            </a:r>
            <a:endParaRPr sz="1500">
              <a:latin typeface="Calibri"/>
              <a:cs typeface="Calibri"/>
            </a:endParaRPr>
          </a:p>
          <a:p>
            <a:pPr marL="348615" marR="50165" indent="-336550">
              <a:lnSpc>
                <a:spcPct val="15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348615" algn="l"/>
              </a:tabLst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Preserving</a:t>
            </a:r>
            <a:r>
              <a:rPr sz="15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Structure:</a:t>
            </a:r>
            <a:r>
              <a:rPr sz="1500" b="1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It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specifically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maintains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integrity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synchronized</a:t>
            </a:r>
            <a:r>
              <a:rPr sz="1500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elective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blocks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through</a:t>
            </a:r>
            <a:r>
              <a:rPr sz="1500" spc="-7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elitist</a:t>
            </a:r>
            <a:r>
              <a:rPr sz="1500" spc="-6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selection.</a:t>
            </a:r>
            <a:endParaRPr sz="1500">
              <a:latin typeface="Calibri"/>
              <a:cs typeface="Calibri"/>
            </a:endParaRPr>
          </a:p>
          <a:p>
            <a:pPr marL="348615" marR="187325" indent="-336550">
              <a:lnSpc>
                <a:spcPct val="15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348615" algn="l"/>
              </a:tabLst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Ready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Structure:</a:t>
            </a:r>
            <a:r>
              <a:rPr sz="1500" b="1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architecture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serves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as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functional,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optimized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solution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for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modern university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timetabling</a:t>
            </a:r>
            <a:r>
              <a:rPr sz="1500" spc="-2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needs.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085" y="711308"/>
            <a:ext cx="2346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75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60" y="1475740"/>
            <a:ext cx="7550150" cy="270510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Human-in-the-Loop:</a:t>
            </a:r>
            <a:endParaRPr sz="1500">
              <a:latin typeface="Calibri"/>
              <a:cs typeface="Calibri"/>
            </a:endParaRPr>
          </a:p>
          <a:p>
            <a:pPr marL="471170" indent="-337820" algn="just">
              <a:lnSpc>
                <a:spcPct val="100000"/>
              </a:lnSpc>
              <a:spcBef>
                <a:spcPts val="900"/>
              </a:spcBef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71170" algn="l"/>
              </a:tabLst>
            </a:pP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Implementing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and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improving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3E3E3E"/>
                </a:solidFill>
                <a:latin typeface="Calibri"/>
                <a:cs typeface="Calibri"/>
              </a:rPr>
              <a:t>React-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based</a:t>
            </a:r>
            <a:r>
              <a:rPr sz="1500" spc="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Editor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functionality.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Microsoft Sans Serif"/>
              <a:buChar char="●"/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Quality</a:t>
            </a:r>
            <a:r>
              <a:rPr sz="15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Optimization: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00">
              <a:latin typeface="Calibri"/>
              <a:cs typeface="Calibri"/>
            </a:endParaRPr>
          </a:p>
          <a:p>
            <a:pPr marL="471170" indent="-337820" algn="just">
              <a:lnSpc>
                <a:spcPct val="100000"/>
              </a:lnSpc>
              <a:buClr>
                <a:srgbClr val="E48312"/>
              </a:buClr>
              <a:buSzPct val="93333"/>
              <a:buFont typeface="Microsoft Sans Serif"/>
              <a:buChar char="●"/>
              <a:tabLst>
                <a:tab pos="471170" algn="l"/>
              </a:tabLst>
            </a:pP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Addition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more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complex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Soft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Constraints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into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E3E3E"/>
                </a:solidFill>
                <a:latin typeface="Calibri"/>
                <a:cs typeface="Calibri"/>
              </a:rPr>
              <a:t>solver</a:t>
            </a:r>
            <a:r>
              <a:rPr sz="1500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E3E3E"/>
                </a:solidFill>
                <a:latin typeface="Calibri"/>
                <a:cs typeface="Calibri"/>
              </a:rPr>
              <a:t>engine.</a:t>
            </a:r>
            <a:endParaRPr sz="1500">
              <a:latin typeface="Calibri"/>
              <a:cs typeface="Calibri"/>
            </a:endParaRPr>
          </a:p>
          <a:p>
            <a:pPr marL="467359" marR="5080" indent="-334010" algn="just">
              <a:lnSpc>
                <a:spcPct val="150000"/>
              </a:lnSpc>
              <a:buClr>
                <a:srgbClr val="E48312"/>
              </a:buClr>
              <a:buSzPct val="93333"/>
              <a:buFont typeface="Arial"/>
              <a:buChar char="●"/>
              <a:tabLst>
                <a:tab pos="469900" algn="l"/>
              </a:tabLst>
            </a:pP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current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system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reliably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satisfies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Hard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Constraints,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so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future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work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will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focus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heavily</a:t>
            </a:r>
            <a:r>
              <a:rPr sz="1500" b="1" spc="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on 	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Soft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Constraints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(like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minimizing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professor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campus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time)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to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improve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human</a:t>
            </a:r>
            <a:r>
              <a:rPr sz="1500" b="1" spc="-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quality</a:t>
            </a:r>
            <a:r>
              <a:rPr sz="1500" b="1" spc="-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of 	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life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of</a:t>
            </a:r>
            <a:r>
              <a:rPr sz="15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3E3E3E"/>
                </a:solidFill>
                <a:latin typeface="Calibri"/>
                <a:cs typeface="Calibri"/>
              </a:rPr>
              <a:t>the</a:t>
            </a:r>
            <a:r>
              <a:rPr sz="15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3E3E3E"/>
                </a:solidFill>
                <a:latin typeface="Calibri"/>
                <a:cs typeface="Calibri"/>
              </a:rPr>
              <a:t>timetables.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1617</Words>
  <Application>Microsoft Office PowerPoint</Application>
  <PresentationFormat>On-screen Show (16:9)</PresentationFormat>
  <Paragraphs>134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MT</vt:lpstr>
      <vt:lpstr>Calibri</vt:lpstr>
      <vt:lpstr>Microsoft Sans Serif</vt:lpstr>
      <vt:lpstr>Times New Roman</vt:lpstr>
      <vt:lpstr>Office Theme</vt:lpstr>
      <vt:lpstr>Automated IIITA Timetabling System</vt:lpstr>
      <vt:lpstr>Problem Statement</vt:lpstr>
      <vt:lpstr>Formulation of Hard Constraints</vt:lpstr>
      <vt:lpstr>Formulation of Hard Constraints</vt:lpstr>
      <vt:lpstr>Formulation of Hard Constraints</vt:lpstr>
      <vt:lpstr>Formulation of Hard Constraints</vt:lpstr>
      <vt:lpstr>Soft Constraints</vt:lpstr>
      <vt:lpstr>Literature Review</vt:lpstr>
      <vt:lpstr>The (1+1)-ES Algorithm (Part 1)</vt:lpstr>
      <vt:lpstr>The (1+1)-ES Algorithm (Part 2)</vt:lpstr>
      <vt:lpstr>Advantages</vt:lpstr>
      <vt:lpstr>System Design &amp; Session Chunking</vt:lpstr>
      <vt:lpstr>System Workflow</vt:lpstr>
      <vt:lpstr>Conclusion</vt:lpstr>
      <vt:lpstr>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TTGen</dc:title>
  <cp:lastModifiedBy>Rahul Roy</cp:lastModifiedBy>
  <cp:revision>2</cp:revision>
  <dcterms:created xsi:type="dcterms:W3CDTF">2026-05-06T20:12:52Z</dcterms:created>
  <dcterms:modified xsi:type="dcterms:W3CDTF">2026-05-06T21:20:33Z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2026-05-06T00:00:00Z</vt:filetime>
  </property>
</Properties>
</file>